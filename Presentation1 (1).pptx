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2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9" r:id="rId3"/>
    <p:sldId id="258" r:id="rId4"/>
    <p:sldId id="261" r:id="rId5"/>
    <p:sldId id="262" r:id="rId6"/>
    <p:sldId id="322" r:id="rId7"/>
    <p:sldId id="269" r:id="rId8"/>
    <p:sldId id="260" r:id="rId9"/>
    <p:sldId id="273" r:id="rId10"/>
    <p:sldId id="272" r:id="rId11"/>
    <p:sldId id="266" r:id="rId12"/>
    <p:sldId id="293" r:id="rId13"/>
    <p:sldId id="279" r:id="rId14"/>
    <p:sldId id="296" r:id="rId15"/>
    <p:sldId id="315" r:id="rId16"/>
    <p:sldId id="312" r:id="rId17"/>
    <p:sldId id="314" r:id="rId18"/>
    <p:sldId id="313" r:id="rId19"/>
    <p:sldId id="275" r:id="rId20"/>
    <p:sldId id="318" r:id="rId21"/>
    <p:sldId id="276" r:id="rId22"/>
    <p:sldId id="316" r:id="rId23"/>
    <p:sldId id="317" r:id="rId24"/>
    <p:sldId id="297" r:id="rId25"/>
    <p:sldId id="277" r:id="rId26"/>
    <p:sldId id="263" r:id="rId27"/>
    <p:sldId id="320" r:id="rId28"/>
    <p:sldId id="32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70" autoAdjust="0"/>
    <p:restoredTop sz="94660"/>
  </p:normalViewPr>
  <p:slideViewPr>
    <p:cSldViewPr snapToGrid="0">
      <p:cViewPr varScale="1">
        <p:scale>
          <a:sx n="72" d="100"/>
          <a:sy n="72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755713505908"/>
          <c:y val="0.23349061870787599"/>
          <c:w val="0.776001728006389"/>
          <c:h val="0.687350539515893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dLbl>
              <c:idx val="0"/>
              <c:layout>
                <c:manualLayout>
                  <c:x val="0"/>
                  <c:y val="-6.572295102375140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42A-408C-A665-21CE62223F46}"/>
                </c:ext>
              </c:extLst>
            </c:dLbl>
            <c:dLbl>
              <c:idx val="1"/>
              <c:layout>
                <c:manualLayout>
                  <c:x val="4.1666663249125399E-3"/>
                  <c:y val="-3.103583798343819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42A-408C-A665-21CE62223F46}"/>
                </c:ext>
              </c:extLst>
            </c:dLbl>
            <c:dLbl>
              <c:idx val="2"/>
              <c:layout>
                <c:manualLayout>
                  <c:x val="1.45833321371939E-2"/>
                  <c:y val="-4.01640256256258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42A-408C-A665-21CE62223F46}"/>
                </c:ext>
              </c:extLst>
            </c:dLbl>
            <c:dLbl>
              <c:idx val="3"/>
              <c:layout>
                <c:manualLayout>
                  <c:x val="9.3749992310530605E-3"/>
                  <c:y val="-4.929221326781359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42A-408C-A665-21CE62223F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32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Under 18</c:v>
                </c:pt>
                <c:pt idx="1">
                  <c:v>18-30</c:v>
                </c:pt>
                <c:pt idx="2">
                  <c:v>31-45</c:v>
                </c:pt>
                <c:pt idx="3">
                  <c:v>45-60</c:v>
                </c:pt>
                <c:pt idx="4">
                  <c:v>above 60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1.4999999999999999E-2</c:v>
                </c:pt>
                <c:pt idx="1">
                  <c:v>0.91700000000000004</c:v>
                </c:pt>
                <c:pt idx="2" formatCode="0%">
                  <c:v>5.2600000000000001E-2</c:v>
                </c:pt>
                <c:pt idx="3">
                  <c:v>1.4999999999999999E-2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42A-408C-A665-21CE62223F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929335168"/>
        <c:axId val="929328096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2">
                      <a:alpha val="85000"/>
                    </a:schemeClr>
                  </a:solidFill>
                  <a:ln w="9525" cap="flat" cmpd="sng" algn="ctr">
                    <a:solidFill>
                      <a:schemeClr val="accent2">
                        <a:lumMod val="75000"/>
                      </a:schemeClr>
                    </a:solidFill>
                    <a:round/>
                  </a:ln>
                  <a:effectLst/>
                  <a:sp3d contourW="9525">
                    <a:contourClr>
                      <a:schemeClr val="accent2">
                        <a:lumMod val="75000"/>
                      </a:schemeClr>
                    </a:contourClr>
                  </a:sp3d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GB" sz="1195" b="0" i="0" u="none" strike="noStrike" kern="1200" baseline="0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PK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Under 18</c:v>
                      </c:pt>
                      <c:pt idx="1">
                        <c:v>18-30</c:v>
                      </c:pt>
                      <c:pt idx="2">
                        <c:v>31-45</c:v>
                      </c:pt>
                      <c:pt idx="3">
                        <c:v>45-60</c:v>
                      </c:pt>
                      <c:pt idx="4">
                        <c:v>above 60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5-742A-408C-A665-21CE62223F46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3">
                      <a:alpha val="85000"/>
                    </a:schemeClr>
                  </a:solidFill>
                  <a:ln w="9525" cap="flat" cmpd="sng" algn="ctr">
                    <a:solidFill>
                      <a:schemeClr val="accent3">
                        <a:lumMod val="75000"/>
                      </a:schemeClr>
                    </a:solidFill>
                    <a:round/>
                  </a:ln>
                  <a:effectLst/>
                  <a:sp3d contourW="9525">
                    <a:contourClr>
                      <a:schemeClr val="accent3">
                        <a:lumMod val="75000"/>
                      </a:schemeClr>
                    </a:contourClr>
                  </a:sp3d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GB" sz="1195" b="0" i="0" u="none" strike="noStrike" kern="1200" baseline="0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PK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Under 18</c:v>
                      </c:pt>
                      <c:pt idx="1">
                        <c:v>18-30</c:v>
                      </c:pt>
                      <c:pt idx="2">
                        <c:v>31-45</c:v>
                      </c:pt>
                      <c:pt idx="3">
                        <c:v>45-60</c:v>
                      </c:pt>
                      <c:pt idx="4">
                        <c:v>above 60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6-742A-408C-A665-21CE62223F46}"/>
                  </c:ext>
                </c:extLst>
              </c15:ser>
            </c15:filteredBarSeries>
          </c:ext>
        </c:extLst>
      </c:barChart>
      <c:catAx>
        <c:axId val="929335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8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29328096"/>
        <c:crosses val="autoZero"/>
        <c:auto val="1"/>
        <c:lblAlgn val="ctr"/>
        <c:lblOffset val="100"/>
        <c:noMultiLvlLbl val="0"/>
      </c:catAx>
      <c:valAx>
        <c:axId val="929328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8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29335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5208482184343604"/>
          <c:y val="0.51718471168008395"/>
          <c:w val="0.119044363595443"/>
          <c:h val="0.10702843066107801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36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>
        <c:manualLayout>
          <c:layoutTarget val="inner"/>
          <c:xMode val="edge"/>
          <c:yMode val="edge"/>
          <c:x val="0.207736448081038"/>
          <c:y val="0.17495138238475599"/>
          <c:w val="0.58452694210852096"/>
          <c:h val="0.7781591252738180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EB9-46FE-9783-F2EDFBEAD11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EB9-46FE-9783-F2EDFBEAD11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EB9-46FE-9783-F2EDFBEAD112}"/>
              </c:ext>
            </c:extLst>
          </c:dPt>
          <c:dLbls>
            <c:dLbl>
              <c:idx val="0"/>
              <c:layout>
                <c:manualLayout>
                  <c:x val="8.7849399789068E-2"/>
                  <c:y val="1.2576838979218401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EB9-46FE-9783-F2EDFBEAD112}"/>
                </c:ext>
              </c:extLst>
            </c:dLbl>
            <c:dLbl>
              <c:idx val="1"/>
              <c:layout>
                <c:manualLayout>
                  <c:x val="-5.0999989926096299E-2"/>
                  <c:y val="-6.1501758318371201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EB9-46FE-9783-F2EDFBEAD112}"/>
                </c:ext>
              </c:extLst>
            </c:dLbl>
            <c:dLbl>
              <c:idx val="2"/>
              <c:layout>
                <c:manualLayout>
                  <c:x val="-3.6366637400684902E-2"/>
                  <c:y val="-4.5392563275450503E-3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EB9-46FE-9783-F2EDFBEAD1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3"/>
                <c:pt idx="0" formatCode="0%">
                  <c:v>0.60899999999999999</c:v>
                </c:pt>
                <c:pt idx="1">
                  <c:v>0.39</c:v>
                </c:pt>
                <c:pt idx="2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6-6EB9-46FE-9783-F2EDFBEAD112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en-GB"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en-GB"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en-GB"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</c:legendEntry>
      <c:layout>
        <c:manualLayout>
          <c:xMode val="edge"/>
          <c:yMode val="edge"/>
          <c:x val="1.0903063474117401E-3"/>
          <c:y val="0.85790389932448397"/>
          <c:w val="0.998909766295072"/>
          <c:h val="0.142096100675516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defTabSz="914400">
              <a:defRPr lang="en-GB"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GB"/>
              <a:t>People’s Opinion about </a:t>
            </a:r>
            <a:r>
              <a:rPr lang="en-US"/>
              <a:t>Government's </a:t>
            </a:r>
            <a:r>
              <a:rPr lang="en-US" altLang="en-GB"/>
              <a:t>Measures</a:t>
            </a:r>
            <a:r>
              <a:rPr lang="en-US"/>
              <a:t> to Improve Air Quality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defTabSz="914400">
            <a:defRPr lang="en-GB"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>
        <c:manualLayout>
          <c:layoutTarget val="inner"/>
          <c:xMode val="edge"/>
          <c:yMode val="edge"/>
          <c:x val="0.26881892013998099"/>
          <c:y val="0.25414579927994602"/>
          <c:w val="0.55643375778765003"/>
          <c:h val="0.5568883827022379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Government's Efforts to Improve Air Quality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637-4360-BC46-40A3318F4D1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637-4360-BC46-40A3318F4D1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637-4360-BC46-40A3318F4D1F}"/>
              </c:ext>
            </c:extLst>
          </c:dPt>
          <c:dLbls>
            <c:dLbl>
              <c:idx val="0"/>
              <c:layout>
                <c:manualLayout>
                  <c:x val="7.6245381688146305E-2"/>
                  <c:y val="5.2333114577547799E-4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637-4360-BC46-40A3318F4D1F}"/>
                </c:ext>
              </c:extLst>
            </c:dLbl>
            <c:dLbl>
              <c:idx val="1"/>
              <c:layout>
                <c:manualLayout>
                  <c:x val="0.307958449038363"/>
                  <c:y val="-0.12611551427241299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637-4360-BC46-40A3318F4D1F}"/>
                </c:ext>
              </c:extLst>
            </c:dLbl>
            <c:dLbl>
              <c:idx val="2"/>
              <c:layout>
                <c:manualLayout>
                  <c:x val="-0.101540360287661"/>
                  <c:y val="0.106729825388011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637-4360-BC46-40A3318F4D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Not Sure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3"/>
                <c:pt idx="0" formatCode="0%">
                  <c:v>7</c:v>
                </c:pt>
                <c:pt idx="1">
                  <c:v>64.900000000000006</c:v>
                </c:pt>
                <c:pt idx="2">
                  <c:v>15.8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6-E637-4360-BC46-40A3318F4D1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13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AQI Awareness 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3"/>
                <c:pt idx="0">
                  <c:v>0.77500000000000002</c:v>
                </c:pt>
                <c:pt idx="1">
                  <c:v>0.22500000000000001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36-4755-9B41-F854F01401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29331360"/>
        <c:axId val="929335712"/>
      </c:barChart>
      <c:catAx>
        <c:axId val="92933136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29335712"/>
        <c:crosses val="autoZero"/>
        <c:auto val="1"/>
        <c:lblAlgn val="ctr"/>
        <c:lblOffset val="100"/>
        <c:noMultiLvlLbl val="0"/>
      </c:catAx>
      <c:valAx>
        <c:axId val="929335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4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2933136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GB" sz="240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1195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314339312932"/>
          <c:y val="8.9235127478753506E-2"/>
          <c:w val="0.80567475671239297"/>
          <c:h val="0.69740684244933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100000">
                  <a:schemeClr val="accent1"/>
                </a:gs>
                <a:gs pos="0">
                  <a:schemeClr val="accent1">
                    <a:hueOff val="-1670000"/>
                  </a:schemeClr>
                </a:gs>
              </a:gsLst>
              <a:lin ang="5400000" scaled="0"/>
            </a:gradFill>
            <a:ln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>
                      <a:lumMod val="75000"/>
                      <a:hueOff val="-1670000"/>
                    </a:schemeClr>
                  </a:gs>
                </a:gsLst>
                <a:lin ang="462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24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Student</c:v>
                </c:pt>
                <c:pt idx="1">
                  <c:v>Employed</c:v>
                </c:pt>
                <c:pt idx="2">
                  <c:v>Umemployed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0.75</c:v>
                </c:pt>
                <c:pt idx="1">
                  <c:v>0.15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53-4D29-9F3A-86A8920AE9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gradFill>
              <a:gsLst>
                <a:gs pos="100000">
                  <a:schemeClr val="accent2"/>
                </a:gs>
                <a:gs pos="0">
                  <a:schemeClr val="accent2">
                    <a:hueOff val="-1670000"/>
                  </a:schemeClr>
                </a:gs>
              </a:gsLst>
              <a:lin ang="5400000" scaled="0"/>
            </a:gradFill>
            <a:ln>
              <a:gradFill>
                <a:gsLst>
                  <a:gs pos="100000">
                    <a:schemeClr val="accent2">
                      <a:lumMod val="75000"/>
                    </a:schemeClr>
                  </a:gs>
                  <a:gs pos="0">
                    <a:schemeClr val="accent2">
                      <a:lumMod val="75000"/>
                      <a:hueOff val="-1670000"/>
                    </a:schemeClr>
                  </a:gs>
                </a:gsLst>
                <a:lin ang="462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Student</c:v>
                </c:pt>
                <c:pt idx="1">
                  <c:v>Employed</c:v>
                </c:pt>
                <c:pt idx="2">
                  <c:v>Umemployed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5353-4D29-9F3A-86A8920AE9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gradFill>
              <a:gsLst>
                <a:gs pos="100000">
                  <a:schemeClr val="accent3"/>
                </a:gs>
                <a:gs pos="0">
                  <a:schemeClr val="accent3">
                    <a:hueOff val="-1670000"/>
                  </a:schemeClr>
                </a:gs>
              </a:gsLst>
              <a:lin ang="5400000" scaled="0"/>
            </a:gradFill>
            <a:ln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75000"/>
                      <a:hueOff val="-1670000"/>
                    </a:schemeClr>
                  </a:gs>
                </a:gsLst>
                <a:lin ang="462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Student</c:v>
                </c:pt>
                <c:pt idx="1">
                  <c:v>Employed</c:v>
                </c:pt>
                <c:pt idx="2">
                  <c:v>Umemployed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5353-4D29-9F3A-86A8920AE9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0"/>
        <c:overlap val="-50"/>
        <c:axId val="929327008"/>
        <c:axId val="985996944"/>
      </c:barChart>
      <c:catAx>
        <c:axId val="92932700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20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85996944"/>
        <c:crosses val="autoZero"/>
        <c:auto val="1"/>
        <c:lblAlgn val="ctr"/>
        <c:lblOffset val="100"/>
        <c:noMultiLvlLbl val="0"/>
      </c:catAx>
      <c:valAx>
        <c:axId val="985996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29327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1606315432574E-2"/>
          <c:y val="9.5765104460756603E-2"/>
          <c:w val="0.85268552364241101"/>
          <c:h val="0.570638057594578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Worsened</c:v>
                </c:pt>
                <c:pt idx="1">
                  <c:v>Remains the same</c:v>
                </c:pt>
                <c:pt idx="2">
                  <c:v>Improved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75.900000000000006</c:v>
                </c:pt>
                <c:pt idx="1">
                  <c:v>19.5</c:v>
                </c:pt>
                <c:pt idx="2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AC-4B25-8B77-127B70F438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Worsened</c:v>
                </c:pt>
                <c:pt idx="1">
                  <c:v>Remains the same</c:v>
                </c:pt>
                <c:pt idx="2">
                  <c:v>Improved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0CAC-4B25-8B77-127B70F438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overlap val="-27"/>
        <c:axId val="1231433744"/>
        <c:axId val="1231440272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3"/>
                <c:pt idx="0">
                  <c:v>Worsened</c:v>
                </c:pt>
                <c:pt idx="1">
                  <c:v>Remains the same</c:v>
                </c:pt>
                <c:pt idx="2">
                  <c:v>Improved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CAC-4B25-8B77-127B70F438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31435920"/>
        <c:axId val="1231443536"/>
      </c:lineChart>
      <c:catAx>
        <c:axId val="1231433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000" b="1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231440272"/>
        <c:crosses val="autoZero"/>
        <c:auto val="1"/>
        <c:lblAlgn val="ctr"/>
        <c:lblOffset val="100"/>
        <c:noMultiLvlLbl val="0"/>
      </c:catAx>
      <c:valAx>
        <c:axId val="1231440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0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231433744"/>
        <c:crosses val="autoZero"/>
        <c:crossBetween val="between"/>
      </c:valAx>
      <c:catAx>
        <c:axId val="12314359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31443536"/>
        <c:crosses val="autoZero"/>
        <c:auto val="1"/>
        <c:lblAlgn val="ctr"/>
        <c:lblOffset val="100"/>
        <c:noMultiLvlLbl val="0"/>
      </c:catAx>
      <c:valAx>
        <c:axId val="1231443536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231435920"/>
        <c:crosses val="max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17051197539E-2"/>
          <c:y val="0.10237421041167501"/>
          <c:w val="0.95165897604922001"/>
          <c:h val="0.8736658680026140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Air Quality affects your study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D93-423E-A4E7-4DA239C2251A}"/>
              </c:ext>
            </c:extLst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D93-423E-A4E7-4DA239C2251A}"/>
              </c:ext>
            </c:extLst>
          </c:dPt>
          <c:dPt>
            <c:idx val="2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D93-423E-A4E7-4DA239C2251A}"/>
              </c:ext>
            </c:extLst>
          </c:dPt>
          <c:dPt>
            <c:idx val="3"/>
            <c:bubble3D val="0"/>
            <c:spPr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0">
                    <a:schemeClr val="accent4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D93-423E-A4E7-4DA239C2251A}"/>
              </c:ext>
            </c:extLst>
          </c:dPt>
          <c:dLbls>
            <c:dLbl>
              <c:idx val="0"/>
              <c:layout>
                <c:manualLayout>
                  <c:x val="0.17083740357702201"/>
                  <c:y val="3.5190804862533599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D93-423E-A4E7-4DA239C2251A}"/>
                </c:ext>
              </c:extLst>
            </c:dLbl>
            <c:dLbl>
              <c:idx val="1"/>
              <c:layout>
                <c:manualLayout>
                  <c:x val="-0.15083120589898799"/>
                  <c:y val="-0.1071733347520749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D93-423E-A4E7-4DA239C2251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D93-423E-A4E7-4DA239C225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24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Yes</c:v>
                </c:pt>
                <c:pt idx="1">
                  <c:v>Sometimes</c:v>
                </c:pt>
                <c:pt idx="2">
                  <c:v>No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0.66100000000000003</c:v>
                </c:pt>
                <c:pt idx="1">
                  <c:v>0.248</c:v>
                </c:pt>
                <c:pt idx="2" formatCode="0.00%">
                  <c:v>8.9999999999999998E-4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D93-423E-A4E7-4DA239C225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dPt>
            <c:idx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3D93-423E-A4E7-4DA239C2251A}"/>
              </c:ext>
            </c:extLst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3D93-423E-A4E7-4DA239C2251A}"/>
              </c:ext>
            </c:extLst>
          </c:dPt>
          <c:dPt>
            <c:idx val="2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3D93-423E-A4E7-4DA239C2251A}"/>
              </c:ext>
            </c:extLst>
          </c:dPt>
          <c:dPt>
            <c:idx val="3"/>
            <c:bubble3D val="0"/>
            <c:spPr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0">
                    <a:schemeClr val="accent4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3D93-423E-A4E7-4DA239C2251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1195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Yes</c:v>
                </c:pt>
                <c:pt idx="1">
                  <c:v>Sometimes</c:v>
                </c:pt>
                <c:pt idx="2">
                  <c:v>No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11-3D93-423E-A4E7-4DA239C225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dPt>
            <c:idx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3D93-423E-A4E7-4DA239C2251A}"/>
              </c:ext>
            </c:extLst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3D93-423E-A4E7-4DA239C2251A}"/>
              </c:ext>
            </c:extLst>
          </c:dPt>
          <c:dPt>
            <c:idx val="2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3D93-423E-A4E7-4DA239C2251A}"/>
              </c:ext>
            </c:extLst>
          </c:dPt>
          <c:dPt>
            <c:idx val="3"/>
            <c:bubble3D val="0"/>
            <c:spPr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0">
                    <a:schemeClr val="accent4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3D93-423E-A4E7-4DA239C2251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1195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Yes</c:v>
                </c:pt>
                <c:pt idx="1">
                  <c:v>Sometimes</c:v>
                </c:pt>
                <c:pt idx="2">
                  <c:v>No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1A-3D93-423E-A4E7-4DA239C2251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en-GB" sz="2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en-GB" sz="2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</c:legendEntry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34955011402046698"/>
          <c:y val="0.90661275448677003"/>
          <c:w val="0.47785903662048101"/>
          <c:h val="9.2179896431864902E-2"/>
        </c:manualLayout>
      </c:layout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4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pattFill prst="dkDnDiag">
      <a:fgClr>
        <a:schemeClr val="lt1"/>
      </a:fgClr>
      <a:bgClr>
        <a:schemeClr val="dk1">
          <a:lumMod val="10000"/>
          <a:lumOff val="90000"/>
        </a:schemeClr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4853321784501607E-2"/>
          <c:y val="0.116602067183463"/>
          <c:w val="0.90210993360572"/>
          <c:h val="0.638910422049956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 Quality Rating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226109215016998E-2"/>
                  <c:y val="8.333907342744509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CBB-4835-BB77-4001696AD585}"/>
                </c:ext>
              </c:extLst>
            </c:dLbl>
            <c:dLbl>
              <c:idx val="1"/>
              <c:layout>
                <c:manualLayout>
                  <c:x val="2.4287298878595698E-2"/>
                  <c:y val="-3.797968170082309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BB-4835-BB77-4001696AD585}"/>
                </c:ext>
              </c:extLst>
            </c:dLbl>
            <c:dLbl>
              <c:idx val="2"/>
              <c:layout>
                <c:manualLayout>
                  <c:x val="0.13181674195680901"/>
                  <c:y val="-4.43360508073014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CBB-4835-BB77-4001696AD585}"/>
                </c:ext>
              </c:extLst>
            </c:dLbl>
            <c:dLbl>
              <c:idx val="3"/>
              <c:layout>
                <c:manualLayout>
                  <c:x val="4.2683447098976098E-2"/>
                  <c:y val="-2.68413972469493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BB-4835-BB77-4001696AD585}"/>
                </c:ext>
              </c:extLst>
            </c:dLbl>
            <c:dLbl>
              <c:idx val="4"/>
              <c:layout>
                <c:manualLayout>
                  <c:x val="0.14741419599692501"/>
                  <c:y val="-2.0569994148276202E-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CBB-4835-BB77-4001696AD5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1195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Ver Poor</c:v>
                </c:pt>
                <c:pt idx="1">
                  <c:v>Poor</c:v>
                </c:pt>
                <c:pt idx="2">
                  <c:v>Neutral</c:v>
                </c:pt>
                <c:pt idx="3">
                  <c:v>Good</c:v>
                </c:pt>
                <c:pt idx="4">
                  <c:v>Excellent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 formatCode="0.00%">
                  <c:v>0.28899999999999998</c:v>
                </c:pt>
                <c:pt idx="1">
                  <c:v>0.312</c:v>
                </c:pt>
                <c:pt idx="2" formatCode="0.00%">
                  <c:v>0.27200000000000002</c:v>
                </c:pt>
                <c:pt idx="3" formatCode="0.00%">
                  <c:v>8.1000000000000003E-2</c:v>
                </c:pt>
                <c:pt idx="4" formatCode="0.00%">
                  <c:v>4.5999999999999999E-2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CBB-4835-BB77-4001696AD585}"/>
            </c:ext>
          </c:extLst>
        </c:ser>
        <c:ser>
          <c:idx val="1"/>
          <c:order val="1"/>
          <c:tx>
            <c:strRef>
              <c:f>Sheet1!#REF!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1195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Ver Poor</c:v>
                </c:pt>
                <c:pt idx="1">
                  <c:v>Poor</c:v>
                </c:pt>
                <c:pt idx="2">
                  <c:v>Neutral</c:v>
                </c:pt>
                <c:pt idx="3">
                  <c:v>Good</c:v>
                </c:pt>
                <c:pt idx="4">
                  <c:v>Excellent</c:v>
                </c:pt>
              </c:strCache>
            </c:strRef>
          </c:cat>
          <c:val>
            <c:numRef>
              <c:f>Sheet1!$C$7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6-6CBB-4835-BB77-4001696AD585}"/>
            </c:ext>
          </c:extLst>
        </c:ser>
        <c:ser>
          <c:idx val="2"/>
          <c:order val="2"/>
          <c:tx>
            <c:strRef>
              <c:f>Sheet1!#REF!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1195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Ver Poor</c:v>
                </c:pt>
                <c:pt idx="1">
                  <c:v>Poor</c:v>
                </c:pt>
                <c:pt idx="2">
                  <c:v>Neutral</c:v>
                </c:pt>
                <c:pt idx="3">
                  <c:v>Good</c:v>
                </c:pt>
                <c:pt idx="4">
                  <c:v>Excellent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7-6CBB-4835-BB77-4001696AD5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7"/>
        <c:overlap val="-40"/>
        <c:axId val="985991504"/>
        <c:axId val="985998576"/>
      </c:barChart>
      <c:catAx>
        <c:axId val="985991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195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85998576"/>
        <c:crosses val="autoZero"/>
        <c:auto val="1"/>
        <c:lblAlgn val="ctr"/>
        <c:lblOffset val="100"/>
        <c:noMultiLvlLbl val="0"/>
      </c:catAx>
      <c:valAx>
        <c:axId val="9859985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8599150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GB" sz="213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2800" dirty="0"/>
              <a:t>Precautions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13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Precautions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Sheet1!$A$2:$A$6</c:f>
              <c:strCache>
                <c:ptCount val="5"/>
                <c:pt idx="0">
                  <c:v>Wear a mask</c:v>
                </c:pt>
                <c:pt idx="1">
                  <c:v>Use air purifiers at home</c:v>
                </c:pt>
                <c:pt idx="2">
                  <c:v>Stay indoors</c:v>
                </c:pt>
                <c:pt idx="3">
                  <c:v>Avoid outdoor activities</c:v>
                </c:pt>
                <c:pt idx="4">
                  <c:v>No precautions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</c:v>
                </c:pt>
                <c:pt idx="1">
                  <c:v>13</c:v>
                </c:pt>
                <c:pt idx="2">
                  <c:v>51</c:v>
                </c:pt>
                <c:pt idx="3">
                  <c:v>47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72-472B-97E4-EB0E80FA85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Sheet1!$A$2:$A$6</c:f>
              <c:strCache>
                <c:ptCount val="5"/>
                <c:pt idx="0">
                  <c:v>Wear a mask</c:v>
                </c:pt>
                <c:pt idx="1">
                  <c:v>Use air purifiers at home</c:v>
                </c:pt>
                <c:pt idx="2">
                  <c:v>Stay indoors</c:v>
                </c:pt>
                <c:pt idx="3">
                  <c:v>Avoid outdoor activities</c:v>
                </c:pt>
                <c:pt idx="4">
                  <c:v>No precautions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2272-472B-97E4-EB0E80FA85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Sheet1!$A$2:$A$6</c:f>
              <c:strCache>
                <c:ptCount val="5"/>
                <c:pt idx="0">
                  <c:v>Wear a mask</c:v>
                </c:pt>
                <c:pt idx="1">
                  <c:v>Use air purifiers at home</c:v>
                </c:pt>
                <c:pt idx="2">
                  <c:v>Stay indoors</c:v>
                </c:pt>
                <c:pt idx="3">
                  <c:v>Avoid outdoor activities</c:v>
                </c:pt>
                <c:pt idx="4">
                  <c:v>No precautions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2272-472B-97E4-EB0E80FA85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97315728"/>
        <c:axId val="997312464"/>
      </c:barChart>
      <c:catAx>
        <c:axId val="997315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97312464"/>
        <c:crosses val="autoZero"/>
        <c:auto val="1"/>
        <c:lblAlgn val="ctr"/>
        <c:lblOffset val="100"/>
        <c:noMultiLvlLbl val="0"/>
      </c:catAx>
      <c:valAx>
        <c:axId val="997312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97315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GB" sz="24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2400" b="1" dirty="0"/>
              <a:t>Symptoms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4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>
        <c:manualLayout>
          <c:layoutTarget val="inner"/>
          <c:xMode val="edge"/>
          <c:yMode val="edge"/>
          <c:x val="0.100000857774627"/>
          <c:y val="0.19069348310596099"/>
          <c:w val="0.76158918786271301"/>
          <c:h val="0.53349600430528799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cat>
            <c:strRef>
              <c:f>Sheet1!$A$2:$A$7</c:f>
              <c:strCache>
                <c:ptCount val="6"/>
                <c:pt idx="0">
                  <c:v>Coughing</c:v>
                </c:pt>
                <c:pt idx="1">
                  <c:v>Shortness of breath</c:v>
                </c:pt>
                <c:pt idx="2">
                  <c:v>Eye Irritation</c:v>
                </c:pt>
                <c:pt idx="3">
                  <c:v>Fatigue</c:v>
                </c:pt>
                <c:pt idx="4">
                  <c:v>Asthma or Respiratory issues</c:v>
                </c:pt>
                <c:pt idx="5">
                  <c:v>No Precautions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</c:v>
                </c:pt>
                <c:pt idx="1">
                  <c:v>46</c:v>
                </c:pt>
                <c:pt idx="2">
                  <c:v>72</c:v>
                </c:pt>
                <c:pt idx="3">
                  <c:v>14</c:v>
                </c:pt>
                <c:pt idx="4">
                  <c:v>28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82-4E0E-9C82-B4A1DA5701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cat>
            <c:strRef>
              <c:f>Sheet1!$A$2:$A$7</c:f>
              <c:strCache>
                <c:ptCount val="6"/>
                <c:pt idx="0">
                  <c:v>Coughing</c:v>
                </c:pt>
                <c:pt idx="1">
                  <c:v>Shortness of breath</c:v>
                </c:pt>
                <c:pt idx="2">
                  <c:v>Eye Irritation</c:v>
                </c:pt>
                <c:pt idx="3">
                  <c:v>Fatigue</c:v>
                </c:pt>
                <c:pt idx="4">
                  <c:v>Asthma or Respiratory issues</c:v>
                </c:pt>
                <c:pt idx="5">
                  <c:v>No Precautions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1-8682-4E0E-9C82-B4A1DA5701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cat>
            <c:strRef>
              <c:f>Sheet1!$A$2:$A$7</c:f>
              <c:strCache>
                <c:ptCount val="6"/>
                <c:pt idx="0">
                  <c:v>Coughing</c:v>
                </c:pt>
                <c:pt idx="1">
                  <c:v>Shortness of breath</c:v>
                </c:pt>
                <c:pt idx="2">
                  <c:v>Eye Irritation</c:v>
                </c:pt>
                <c:pt idx="3">
                  <c:v>Fatigue</c:v>
                </c:pt>
                <c:pt idx="4">
                  <c:v>Asthma or Respiratory issues</c:v>
                </c:pt>
                <c:pt idx="5">
                  <c:v>No Precautions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2-8682-4E0E-9C82-B4A1DA5701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8593264"/>
        <c:axId val="1128593808"/>
      </c:areaChart>
      <c:catAx>
        <c:axId val="11285932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50000"/>
                <a:lumOff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128593808"/>
        <c:crosses val="autoZero"/>
        <c:auto val="1"/>
        <c:lblAlgn val="ctr"/>
        <c:lblOffset val="100"/>
        <c:noMultiLvlLbl val="0"/>
      </c:catAx>
      <c:valAx>
        <c:axId val="1128593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195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1285932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GB" sz="213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2800" b="1" dirty="0"/>
              <a:t>Profession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13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>
        <c:manualLayout>
          <c:layoutTarget val="inner"/>
          <c:xMode val="edge"/>
          <c:yMode val="edge"/>
          <c:x val="0.22173097112860901"/>
          <c:y val="9.5631048077071595E-2"/>
          <c:w val="0.69525812007873999"/>
          <c:h val="0.691010788920053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2400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Student</c:v>
                </c:pt>
                <c:pt idx="1">
                  <c:v>Employed</c:v>
                </c:pt>
                <c:pt idx="2">
                  <c:v>Umemployed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0.75</c:v>
                </c:pt>
                <c:pt idx="1">
                  <c:v>0.15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5D-4816-8052-A2C29187EE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1195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Student</c:v>
                </c:pt>
                <c:pt idx="1">
                  <c:v>Employed</c:v>
                </c:pt>
                <c:pt idx="2">
                  <c:v>Umemployed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485D-4816-8052-A2C29187EE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1195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Student</c:v>
                </c:pt>
                <c:pt idx="1">
                  <c:v>Employed</c:v>
                </c:pt>
                <c:pt idx="2">
                  <c:v>Umemployed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485D-4816-8052-A2C29187EE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231439184"/>
        <c:axId val="1231440816"/>
      </c:barChart>
      <c:catAx>
        <c:axId val="123143918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231440816"/>
        <c:crosses val="autoZero"/>
        <c:auto val="1"/>
        <c:lblAlgn val="ctr"/>
        <c:lblOffset val="100"/>
        <c:noMultiLvlLbl val="0"/>
      </c:catAx>
      <c:valAx>
        <c:axId val="1231440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40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231439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defTabSz="914400">
              <a:defRPr lang="en-GB" sz="2400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Government's </a:t>
            </a:r>
            <a:r>
              <a:rPr lang="en-US" altLang="en-GB"/>
              <a:t>Measure</a:t>
            </a:r>
            <a:r>
              <a:rPr lang="en-US"/>
              <a:t> to Improve Air Quality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defTabSz="914400">
            <a:defRPr lang="en-GB" sz="240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>
        <c:manualLayout>
          <c:layoutTarget val="inner"/>
          <c:xMode val="edge"/>
          <c:yMode val="edge"/>
          <c:x val="0.26881892013998099"/>
          <c:y val="0.25414579927994602"/>
          <c:w val="0.55643375778765003"/>
          <c:h val="0.5568883827022379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Government's Efforts to Improve Air Quality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538-444F-A8F5-9D1EFC678905}"/>
              </c:ext>
            </c:extLst>
          </c:dPt>
          <c:dPt>
            <c:idx val="1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538-444F-A8F5-9D1EFC678905}"/>
              </c:ext>
            </c:extLst>
          </c:dPt>
          <c:dPt>
            <c:idx val="2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538-444F-A8F5-9D1EFC678905}"/>
              </c:ext>
            </c:extLst>
          </c:dPt>
          <c:dLbls>
            <c:dLbl>
              <c:idx val="0"/>
              <c:layout>
                <c:manualLayout>
                  <c:x val="9.5126497958671202E-2"/>
                  <c:y val="-0.13505170259057001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38-444F-A8F5-9D1EFC678905}"/>
                </c:ext>
              </c:extLst>
            </c:dLbl>
            <c:dLbl>
              <c:idx val="1"/>
              <c:layout>
                <c:manualLayout>
                  <c:x val="0.307958449038363"/>
                  <c:y val="-0.1261155142724129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38-444F-A8F5-9D1EFC678905}"/>
                </c:ext>
              </c:extLst>
            </c:dLbl>
            <c:dLbl>
              <c:idx val="2"/>
              <c:layout>
                <c:manualLayout>
                  <c:x val="-0.22531677143808199"/>
                  <c:y val="0.106729848837368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538-444F-A8F5-9D1EFC6789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2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Not Sure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3"/>
                <c:pt idx="0" formatCode="0%">
                  <c:v>7</c:v>
                </c:pt>
                <c:pt idx="1">
                  <c:v>64.900000000000006</c:v>
                </c:pt>
                <c:pt idx="2">
                  <c:v>15.8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6-2538-444F-A8F5-9D1EFC67890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8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gradFill>
      <a:gsLst>
        <a:gs pos="1000">
          <a:schemeClr val="bg2">
            <a:lumMod val="25000"/>
          </a:schemeClr>
        </a:gs>
        <a:gs pos="0">
          <a:schemeClr val="accent1">
            <a:satMod val="110000"/>
            <a:lumMod val="100000"/>
            <a:shade val="100000"/>
          </a:schemeClr>
        </a:gs>
        <a:gs pos="0">
          <a:schemeClr val="accent1">
            <a:lumMod val="99000"/>
            <a:satMod val="120000"/>
            <a:shade val="78000"/>
          </a:schemeClr>
        </a:gs>
      </a:gsLst>
      <a:lin ang="5400000" scaled="0"/>
    </a:gradFill>
    <a:ln>
      <a:noFill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13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>
        <c:manualLayout>
          <c:layoutTarget val="inner"/>
          <c:xMode val="edge"/>
          <c:yMode val="edge"/>
          <c:x val="0.207736448081038"/>
          <c:y val="0.17495138238475599"/>
          <c:w val="0.58452694210852096"/>
          <c:h val="0.77815912527381803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A19F-42A4-9F6A-69C7F160FC5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A19F-42A4-9F6A-69C7F160FC59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A19F-42A4-9F6A-69C7F160FC59}"/>
              </c:ext>
            </c:extLst>
          </c:dPt>
          <c:dLbls>
            <c:dLbl>
              <c:idx val="0"/>
              <c:layout>
                <c:manualLayout>
                  <c:x val="0.26961687979337201"/>
                  <c:y val="-0.3425417928384519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19F-42A4-9F6A-69C7F160FC59}"/>
                </c:ext>
              </c:extLst>
            </c:dLbl>
            <c:dLbl>
              <c:idx val="1"/>
              <c:layout>
                <c:manualLayout>
                  <c:x val="0.232551102920807"/>
                  <c:y val="-0.2877573012370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19F-42A4-9F6A-69C7F160FC59}"/>
                </c:ext>
              </c:extLst>
            </c:dLbl>
            <c:dLbl>
              <c:idx val="2"/>
              <c:layout>
                <c:manualLayout>
                  <c:x val="6.5022167903566699E-2"/>
                  <c:y val="-0.11685041624942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9F-42A4-9F6A-69C7F160FC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GB" sz="2800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3"/>
                <c:pt idx="0" formatCode="0%">
                  <c:v>0.60899999999999999</c:v>
                </c:pt>
                <c:pt idx="1">
                  <c:v>0.39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19F-42A4-9F6A-69C7F160FC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231422864"/>
        <c:axId val="1231438096"/>
      </c:areaChart>
      <c:catAx>
        <c:axId val="12314228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50000"/>
                <a:lumOff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231438096"/>
        <c:crosses val="autoZero"/>
        <c:auto val="1"/>
        <c:lblAlgn val="ctr"/>
        <c:lblOffset val="100"/>
        <c:noMultiLvlLbl val="0"/>
      </c:catAx>
      <c:valAx>
        <c:axId val="1231438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2314228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010068950421402E-2"/>
          <c:y val="0.13779949934437999"/>
          <c:w val="0.90209040166356602"/>
          <c:h val="0.749839074979139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 Quality Rating</c:v>
                </c:pt>
              </c:strCache>
            </c:strRef>
          </c:tx>
          <c:spPr>
            <a:gradFill>
              <a:gsLst>
                <a:gs pos="100000">
                  <a:schemeClr val="accent1"/>
                </a:gs>
                <a:gs pos="0">
                  <a:schemeClr val="accent1">
                    <a:hueOff val="-1670000"/>
                  </a:schemeClr>
                </a:gs>
              </a:gsLst>
              <a:lin ang="10800000" scaled="0"/>
            </a:gradFill>
            <a:ln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>
                      <a:lumMod val="75000"/>
                      <a:hueOff val="-1670000"/>
                    </a:schemeClr>
                  </a:gs>
                </a:gsLst>
                <a:lin ang="10800000" scaled="0"/>
              </a:gradFill>
            </a:ln>
            <a:effectLst/>
          </c:spPr>
          <c:invertIfNegative val="0"/>
          <c:dLbls>
            <c:dLbl>
              <c:idx val="0"/>
              <c:layout>
                <c:manualLayout>
                  <c:x val="3.0226109215016998E-2"/>
                  <c:y val="8.333907342744509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449-4B84-B3EC-5A68C3E59550}"/>
                </c:ext>
              </c:extLst>
            </c:dLbl>
            <c:dLbl>
              <c:idx val="1"/>
              <c:layout>
                <c:manualLayout>
                  <c:x val="2.4287298878595698E-2"/>
                  <c:y val="-3.797968170082309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449-4B84-B3EC-5A68C3E59550}"/>
                </c:ext>
              </c:extLst>
            </c:dLbl>
            <c:dLbl>
              <c:idx val="2"/>
              <c:layout>
                <c:manualLayout>
                  <c:x val="0.13181674195680901"/>
                  <c:y val="-4.43360508073014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449-4B84-B3EC-5A68C3E59550}"/>
                </c:ext>
              </c:extLst>
            </c:dLbl>
            <c:dLbl>
              <c:idx val="3"/>
              <c:layout>
                <c:manualLayout>
                  <c:x val="4.2683447098976098E-2"/>
                  <c:y val="-2.68413972469493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8995307167235501"/>
                      <c:h val="5.770099367660339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449-4B84-B3EC-5A68C3E59550}"/>
                </c:ext>
              </c:extLst>
            </c:dLbl>
            <c:dLbl>
              <c:idx val="4"/>
              <c:layout>
                <c:manualLayout>
                  <c:x val="0.14741419599692501"/>
                  <c:y val="-2.0569994148276202E-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449-4B84-B3EC-5A68C3E59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20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Ver Poor</c:v>
                </c:pt>
                <c:pt idx="1">
                  <c:v>Poor</c:v>
                </c:pt>
                <c:pt idx="2">
                  <c:v>Neutral</c:v>
                </c:pt>
                <c:pt idx="3">
                  <c:v>Good</c:v>
                </c:pt>
                <c:pt idx="4">
                  <c:v>Excellent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 formatCode="0.00%">
                  <c:v>0.28899999999999998</c:v>
                </c:pt>
                <c:pt idx="1">
                  <c:v>0.312</c:v>
                </c:pt>
                <c:pt idx="2" formatCode="0.00%">
                  <c:v>0.27200000000000002</c:v>
                </c:pt>
                <c:pt idx="3" formatCode="0.00%">
                  <c:v>8.1000000000000003E-2</c:v>
                </c:pt>
                <c:pt idx="4" formatCode="0.00%">
                  <c:v>4.5999999999999999E-2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449-4B84-B3EC-5A68C3E59550}"/>
            </c:ext>
          </c:extLst>
        </c:ser>
        <c:ser>
          <c:idx val="1"/>
          <c:order val="1"/>
          <c:tx>
            <c:strRef>
              <c:f>Sheet1!#REF!</c:f>
              <c:strCache>
                <c:ptCount val="1"/>
              </c:strCache>
            </c:strRef>
          </c:tx>
          <c:spPr>
            <a:gradFill>
              <a:gsLst>
                <a:gs pos="100000">
                  <a:schemeClr val="accent2"/>
                </a:gs>
                <a:gs pos="0">
                  <a:schemeClr val="accent2">
                    <a:hueOff val="-1670000"/>
                  </a:schemeClr>
                </a:gs>
              </a:gsLst>
              <a:lin ang="10800000" scaled="0"/>
            </a:gradFill>
            <a:ln>
              <a:gradFill>
                <a:gsLst>
                  <a:gs pos="100000">
                    <a:schemeClr val="accent2">
                      <a:lumMod val="75000"/>
                    </a:schemeClr>
                  </a:gs>
                  <a:gs pos="0">
                    <a:schemeClr val="accent2">
                      <a:lumMod val="75000"/>
                      <a:hueOff val="-1670000"/>
                    </a:schemeClr>
                  </a:gs>
                </a:gsLst>
                <a:lin ang="1080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Ver Poor</c:v>
                </c:pt>
                <c:pt idx="1">
                  <c:v>Poor</c:v>
                </c:pt>
                <c:pt idx="2">
                  <c:v>Neutral</c:v>
                </c:pt>
                <c:pt idx="3">
                  <c:v>Good</c:v>
                </c:pt>
                <c:pt idx="4">
                  <c:v>Excellent</c:v>
                </c:pt>
              </c:strCache>
            </c:strRef>
          </c:cat>
          <c:val>
            <c:numRef>
              <c:f>Sheet1!$C$7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6-7449-4B84-B3EC-5A68C3E59550}"/>
            </c:ext>
          </c:extLst>
        </c:ser>
        <c:ser>
          <c:idx val="2"/>
          <c:order val="2"/>
          <c:tx>
            <c:strRef>
              <c:f>Sheet1!#REF!</c:f>
              <c:strCache>
                <c:ptCount val="1"/>
              </c:strCache>
            </c:strRef>
          </c:tx>
          <c:spPr>
            <a:gradFill>
              <a:gsLst>
                <a:gs pos="100000">
                  <a:schemeClr val="accent3"/>
                </a:gs>
                <a:gs pos="0">
                  <a:schemeClr val="accent3">
                    <a:hueOff val="-1670000"/>
                  </a:schemeClr>
                </a:gs>
              </a:gsLst>
              <a:lin ang="10800000" scaled="0"/>
            </a:gradFill>
            <a:ln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75000"/>
                      <a:hueOff val="-1670000"/>
                    </a:schemeClr>
                  </a:gs>
                </a:gsLst>
                <a:lin ang="1080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K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Ver Poor</c:v>
                </c:pt>
                <c:pt idx="1">
                  <c:v>Poor</c:v>
                </c:pt>
                <c:pt idx="2">
                  <c:v>Neutral</c:v>
                </c:pt>
                <c:pt idx="3">
                  <c:v>Good</c:v>
                </c:pt>
                <c:pt idx="4">
                  <c:v>Excellent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7-7449-4B84-B3EC-5A68C3E595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axId val="985986608"/>
        <c:axId val="985984432"/>
      </c:barChart>
      <c:catAx>
        <c:axId val="985986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20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85984432"/>
        <c:crosses val="autoZero"/>
        <c:auto val="1"/>
        <c:lblAlgn val="ctr"/>
        <c:lblOffset val="100"/>
        <c:noMultiLvlLbl val="0"/>
      </c:catAx>
      <c:valAx>
        <c:axId val="985984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985986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GB"/>
      </a:pPr>
      <a:endParaRPr lang="en-P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5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5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5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1195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defRPr sz="1195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5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defRPr sz="1195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3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5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10007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hueOff val="-1670000"/>
            </a:schemeClr>
          </a:gs>
        </a:gsLst>
        <a:lin ang="5400000" scaled="0"/>
      </a:gradFill>
      <a:ln>
        <a:gradFill>
          <a:gsLst>
            <a:gs pos="100000">
              <a:schemeClr val="phClr">
                <a:lumMod val="75000"/>
              </a:schemeClr>
            </a:gs>
            <a:gs pos="0">
              <a:schemeClr val="phClr">
                <a:lumMod val="75000"/>
                <a:hueOff val="-1670000"/>
              </a:schemeClr>
            </a:gs>
          </a:gsLst>
          <a:lin ang="4620000" scaled="0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3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1195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3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3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1195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defRPr sz="1195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5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defRPr sz="1195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3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5" kern="12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15">
  <cs:axisTitle>
    <cs:lnRef idx="0"/>
    <cs:fillRef idx="0"/>
    <cs:effectRef idx="0"/>
    <cs:fontRef idx="minor">
      <a:schemeClr val="lt1">
        <a:lumMod val="85000"/>
      </a:schemeClr>
    </cs:fontRef>
    <cs:defRPr sz="1195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  <cs:defRPr sz="1195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5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3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5" kern="12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1195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5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5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3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5" kern="1200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15">
  <cs:axisTitle>
    <cs:lnRef idx="0"/>
    <cs:fillRef idx="0"/>
    <cs:effectRef idx="0"/>
    <cs:fontRef idx="minor">
      <a:schemeClr val="lt1">
        <a:lumMod val="85000"/>
      </a:schemeClr>
    </cs:fontRef>
    <cs:defRPr sz="1195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  <cs:defRPr sz="1195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5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3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5" kern="1200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1012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hueOff val="-1670000"/>
            </a:schemeClr>
          </a:gs>
        </a:gsLst>
        <a:lin ang="10800000" scaled="0"/>
      </a:gradFill>
      <a:ln>
        <a:gradFill>
          <a:gsLst>
            <a:gs pos="100000">
              <a:schemeClr val="phClr">
                <a:lumMod val="75000"/>
              </a:schemeClr>
            </a:gs>
            <a:gs pos="0">
              <a:schemeClr val="phClr">
                <a:lumMod val="75000"/>
                <a:hueOff val="-1670000"/>
              </a:schemeClr>
            </a:gs>
          </a:gsLst>
          <a:lin ang="10800000" scaled="0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0A74B9-062B-4030-AD25-C63634B24B8B}" type="doc">
      <dgm:prSet loTypeId="urn:microsoft.com/office/officeart/2005/8/layout/pyramid2#1" loCatId="pyramid" qsTypeId="urn:microsoft.com/office/officeart/2005/8/quickstyle/3d2#1" qsCatId="3D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D14325A1-5B84-4C17-B089-1482277BB7D2}">
      <dgm:prSet/>
      <dgm:spPr>
        <a:ln>
          <a:solidFill>
            <a:schemeClr val="accent4">
              <a:lumMod val="20000"/>
              <a:lumOff val="80000"/>
            </a:schemeClr>
          </a:solidFill>
        </a:ln>
      </dgm:spPr>
      <dgm:t>
        <a:bodyPr/>
        <a:lstStyle/>
        <a:p>
          <a:pPr rtl="0"/>
          <a:r>
            <a:rPr lang="en-US" dirty="0"/>
            <a:t>Ali Haider      BSDSF22A012</a:t>
          </a:r>
        </a:p>
      </dgm:t>
    </dgm:pt>
    <dgm:pt modelId="{6CF42E19-18BE-4B81-9315-47CDC26ED670}" type="parTrans" cxnId="{3D68232D-121C-482C-B1FE-2149B059482F}">
      <dgm:prSet/>
      <dgm:spPr/>
      <dgm:t>
        <a:bodyPr/>
        <a:lstStyle/>
        <a:p>
          <a:endParaRPr lang="en-US"/>
        </a:p>
      </dgm:t>
    </dgm:pt>
    <dgm:pt modelId="{E80985E8-EC36-48A8-BB74-9913936CB7DE}" type="sibTrans" cxnId="{3D68232D-121C-482C-B1FE-2149B059482F}">
      <dgm:prSet/>
      <dgm:spPr/>
      <dgm:t>
        <a:bodyPr/>
        <a:lstStyle/>
        <a:p>
          <a:endParaRPr lang="en-US"/>
        </a:p>
      </dgm:t>
    </dgm:pt>
    <dgm:pt modelId="{231FDA3F-40E6-494D-99C3-263928150BF5}">
      <dgm:prSet/>
      <dgm:spPr>
        <a:ln>
          <a:solidFill>
            <a:schemeClr val="accent4">
              <a:lumMod val="20000"/>
              <a:lumOff val="80000"/>
            </a:schemeClr>
          </a:solidFill>
        </a:ln>
      </dgm:spPr>
      <dgm:t>
        <a:bodyPr/>
        <a:lstStyle/>
        <a:p>
          <a:pPr rtl="0"/>
          <a:r>
            <a:rPr lang="en-US" dirty="0"/>
            <a:t>Durrab Jah    BSDSF22A017</a:t>
          </a:r>
        </a:p>
      </dgm:t>
    </dgm:pt>
    <dgm:pt modelId="{009D47FB-C3E5-4EFD-BC72-D6CD9052548D}" type="parTrans" cxnId="{5C6428AE-C21A-4BE2-B8C9-C966D80C1EB9}">
      <dgm:prSet/>
      <dgm:spPr/>
      <dgm:t>
        <a:bodyPr/>
        <a:lstStyle/>
        <a:p>
          <a:endParaRPr lang="en-US"/>
        </a:p>
      </dgm:t>
    </dgm:pt>
    <dgm:pt modelId="{951D80C5-B9EF-404C-B369-FD072AE97A8E}" type="sibTrans" cxnId="{5C6428AE-C21A-4BE2-B8C9-C966D80C1EB9}">
      <dgm:prSet/>
      <dgm:spPr/>
      <dgm:t>
        <a:bodyPr/>
        <a:lstStyle/>
        <a:p>
          <a:endParaRPr lang="en-US"/>
        </a:p>
      </dgm:t>
    </dgm:pt>
    <dgm:pt modelId="{4DDC18F9-FE77-4EE7-8C3A-2CE3D68F2EE7}">
      <dgm:prSet/>
      <dgm:spPr>
        <a:ln>
          <a:solidFill>
            <a:schemeClr val="accent4">
              <a:lumMod val="20000"/>
              <a:lumOff val="80000"/>
            </a:schemeClr>
          </a:solidFill>
        </a:ln>
      </dgm:spPr>
      <dgm:t>
        <a:bodyPr/>
        <a:lstStyle/>
        <a:p>
          <a:pPr rtl="0"/>
          <a:r>
            <a:rPr lang="en-US" dirty="0"/>
            <a:t>Talha Anjum BSDSF22A019</a:t>
          </a:r>
        </a:p>
      </dgm:t>
    </dgm:pt>
    <dgm:pt modelId="{4D7B3379-4E8C-42A4-A8A8-8197A6C60E99}" type="parTrans" cxnId="{D2F1DBA2-33A7-42F7-8B69-84608BB5C81C}">
      <dgm:prSet/>
      <dgm:spPr/>
      <dgm:t>
        <a:bodyPr/>
        <a:lstStyle/>
        <a:p>
          <a:endParaRPr lang="en-US"/>
        </a:p>
      </dgm:t>
    </dgm:pt>
    <dgm:pt modelId="{0F23770B-D9B5-4619-B068-AB3BF8125E5E}" type="sibTrans" cxnId="{D2F1DBA2-33A7-42F7-8B69-84608BB5C81C}">
      <dgm:prSet/>
      <dgm:spPr/>
      <dgm:t>
        <a:bodyPr/>
        <a:lstStyle/>
        <a:p>
          <a:endParaRPr lang="en-US"/>
        </a:p>
      </dgm:t>
    </dgm:pt>
    <dgm:pt modelId="{18F7D1C5-EF76-4941-82B1-CADA87A972DA}" type="pres">
      <dgm:prSet presAssocID="{1B0A74B9-062B-4030-AD25-C63634B24B8B}" presName="compositeShape" presStyleCnt="0">
        <dgm:presLayoutVars>
          <dgm:dir/>
          <dgm:resizeHandles/>
        </dgm:presLayoutVars>
      </dgm:prSet>
      <dgm:spPr/>
    </dgm:pt>
    <dgm:pt modelId="{46DFDA00-B911-4EB7-9865-DA08E5C67333}" type="pres">
      <dgm:prSet presAssocID="{1B0A74B9-062B-4030-AD25-C63634B24B8B}" presName="pyramid" presStyleLbl="node1" presStyleIdx="0" presStyleCnt="1" custLinFactNeighborY="1419"/>
      <dgm:spPr>
        <a:blipFill rotWithShape="0">
          <a:blip xmlns:r="http://schemas.openxmlformats.org/officeDocument/2006/relationships" r:embed="rId1">
            <a:duotone>
              <a:prstClr val="black"/>
              <a:schemeClr val="accent5">
                <a:tint val="45000"/>
                <a:satMod val="400000"/>
              </a:schemeClr>
            </a:duotone>
          </a:blip>
          <a:tile tx="0" ty="0" sx="100000" sy="100000" flip="none" algn="tl"/>
        </a:blipFill>
      </dgm:spPr>
    </dgm:pt>
    <dgm:pt modelId="{F6C1287F-B2FA-4E75-B940-74D091168317}" type="pres">
      <dgm:prSet presAssocID="{1B0A74B9-062B-4030-AD25-C63634B24B8B}" presName="theList" presStyleCnt="0"/>
      <dgm:spPr/>
    </dgm:pt>
    <dgm:pt modelId="{5B9B2FE4-AB43-40BC-B04D-7CAC8BF31D98}" type="pres">
      <dgm:prSet presAssocID="{D14325A1-5B84-4C17-B089-1482277BB7D2}" presName="aNode" presStyleLbl="fgAcc1" presStyleIdx="0" presStyleCnt="3">
        <dgm:presLayoutVars>
          <dgm:bulletEnabled val="1"/>
        </dgm:presLayoutVars>
      </dgm:prSet>
      <dgm:spPr/>
    </dgm:pt>
    <dgm:pt modelId="{C5600E28-F742-4F97-AD3A-62A6B94CF57F}" type="pres">
      <dgm:prSet presAssocID="{D14325A1-5B84-4C17-B089-1482277BB7D2}" presName="aSpace" presStyleCnt="0"/>
      <dgm:spPr/>
    </dgm:pt>
    <dgm:pt modelId="{B8C22470-30CF-4BDA-B9B3-5A4C5A7C3674}" type="pres">
      <dgm:prSet presAssocID="{231FDA3F-40E6-494D-99C3-263928150BF5}" presName="aNode" presStyleLbl="fgAcc1" presStyleIdx="1" presStyleCnt="3">
        <dgm:presLayoutVars>
          <dgm:bulletEnabled val="1"/>
        </dgm:presLayoutVars>
      </dgm:prSet>
      <dgm:spPr/>
    </dgm:pt>
    <dgm:pt modelId="{4610C34C-D2A0-4BD4-8B34-47BE2B38F9FF}" type="pres">
      <dgm:prSet presAssocID="{231FDA3F-40E6-494D-99C3-263928150BF5}" presName="aSpace" presStyleCnt="0"/>
      <dgm:spPr/>
    </dgm:pt>
    <dgm:pt modelId="{5A0BD487-CC40-4A08-A7D1-A39EB4326EDB}" type="pres">
      <dgm:prSet presAssocID="{4DDC18F9-FE77-4EE7-8C3A-2CE3D68F2EE7}" presName="aNode" presStyleLbl="fgAcc1" presStyleIdx="2" presStyleCnt="3">
        <dgm:presLayoutVars>
          <dgm:bulletEnabled val="1"/>
        </dgm:presLayoutVars>
      </dgm:prSet>
      <dgm:spPr/>
    </dgm:pt>
    <dgm:pt modelId="{79E54261-789A-4A3E-90C4-CE59B86F516A}" type="pres">
      <dgm:prSet presAssocID="{4DDC18F9-FE77-4EE7-8C3A-2CE3D68F2EE7}" presName="aSpace" presStyleCnt="0"/>
      <dgm:spPr/>
    </dgm:pt>
  </dgm:ptLst>
  <dgm:cxnLst>
    <dgm:cxn modelId="{BDCA3329-7468-4512-AAA8-37C751695B62}" type="presOf" srcId="{D14325A1-5B84-4C17-B089-1482277BB7D2}" destId="{5B9B2FE4-AB43-40BC-B04D-7CAC8BF31D98}" srcOrd="0" destOrd="0" presId="urn:microsoft.com/office/officeart/2005/8/layout/pyramid2#1"/>
    <dgm:cxn modelId="{3D68232D-121C-482C-B1FE-2149B059482F}" srcId="{1B0A74B9-062B-4030-AD25-C63634B24B8B}" destId="{D14325A1-5B84-4C17-B089-1482277BB7D2}" srcOrd="0" destOrd="0" parTransId="{6CF42E19-18BE-4B81-9315-47CDC26ED670}" sibTransId="{E80985E8-EC36-48A8-BB74-9913936CB7DE}"/>
    <dgm:cxn modelId="{D8AA0E5C-27D4-4B0F-BFC8-1642709C0B1D}" type="presOf" srcId="{231FDA3F-40E6-494D-99C3-263928150BF5}" destId="{B8C22470-30CF-4BDA-B9B3-5A4C5A7C3674}" srcOrd="0" destOrd="0" presId="urn:microsoft.com/office/officeart/2005/8/layout/pyramid2#1"/>
    <dgm:cxn modelId="{87F29D9B-B412-4762-8DD0-F459726F2C04}" type="presOf" srcId="{4DDC18F9-FE77-4EE7-8C3A-2CE3D68F2EE7}" destId="{5A0BD487-CC40-4A08-A7D1-A39EB4326EDB}" srcOrd="0" destOrd="0" presId="urn:microsoft.com/office/officeart/2005/8/layout/pyramid2#1"/>
    <dgm:cxn modelId="{D2F1DBA2-33A7-42F7-8B69-84608BB5C81C}" srcId="{1B0A74B9-062B-4030-AD25-C63634B24B8B}" destId="{4DDC18F9-FE77-4EE7-8C3A-2CE3D68F2EE7}" srcOrd="2" destOrd="0" parTransId="{4D7B3379-4E8C-42A4-A8A8-8197A6C60E99}" sibTransId="{0F23770B-D9B5-4619-B068-AB3BF8125E5E}"/>
    <dgm:cxn modelId="{5C6428AE-C21A-4BE2-B8C9-C966D80C1EB9}" srcId="{1B0A74B9-062B-4030-AD25-C63634B24B8B}" destId="{231FDA3F-40E6-494D-99C3-263928150BF5}" srcOrd="1" destOrd="0" parTransId="{009D47FB-C3E5-4EFD-BC72-D6CD9052548D}" sibTransId="{951D80C5-B9EF-404C-B369-FD072AE97A8E}"/>
    <dgm:cxn modelId="{3B1D38B0-26C5-4B48-B127-99DEBC1D8BD3}" type="presOf" srcId="{1B0A74B9-062B-4030-AD25-C63634B24B8B}" destId="{18F7D1C5-EF76-4941-82B1-CADA87A972DA}" srcOrd="0" destOrd="0" presId="urn:microsoft.com/office/officeart/2005/8/layout/pyramid2#1"/>
    <dgm:cxn modelId="{593A3564-98AB-4969-844F-981047A7F6FA}" type="presParOf" srcId="{18F7D1C5-EF76-4941-82B1-CADA87A972DA}" destId="{46DFDA00-B911-4EB7-9865-DA08E5C67333}" srcOrd="0" destOrd="0" presId="urn:microsoft.com/office/officeart/2005/8/layout/pyramid2#1"/>
    <dgm:cxn modelId="{DA80A314-C80F-43C4-86E8-C581104A6EDF}" type="presParOf" srcId="{18F7D1C5-EF76-4941-82B1-CADA87A972DA}" destId="{F6C1287F-B2FA-4E75-B940-74D091168317}" srcOrd="1" destOrd="0" presId="urn:microsoft.com/office/officeart/2005/8/layout/pyramid2#1"/>
    <dgm:cxn modelId="{421F86D6-7D0A-4B81-BF56-8662FA8EDF6E}" type="presParOf" srcId="{F6C1287F-B2FA-4E75-B940-74D091168317}" destId="{5B9B2FE4-AB43-40BC-B04D-7CAC8BF31D98}" srcOrd="0" destOrd="0" presId="urn:microsoft.com/office/officeart/2005/8/layout/pyramid2#1"/>
    <dgm:cxn modelId="{1FE65A3C-58AF-42BC-8610-163D980B2826}" type="presParOf" srcId="{F6C1287F-B2FA-4E75-B940-74D091168317}" destId="{C5600E28-F742-4F97-AD3A-62A6B94CF57F}" srcOrd="1" destOrd="0" presId="urn:microsoft.com/office/officeart/2005/8/layout/pyramid2#1"/>
    <dgm:cxn modelId="{09CAABC4-FD8D-4FB5-98C7-2774B45F677E}" type="presParOf" srcId="{F6C1287F-B2FA-4E75-B940-74D091168317}" destId="{B8C22470-30CF-4BDA-B9B3-5A4C5A7C3674}" srcOrd="2" destOrd="0" presId="urn:microsoft.com/office/officeart/2005/8/layout/pyramid2#1"/>
    <dgm:cxn modelId="{703EA927-BFB6-422C-9A0B-89A76CDF1A23}" type="presParOf" srcId="{F6C1287F-B2FA-4E75-B940-74D091168317}" destId="{4610C34C-D2A0-4BD4-8B34-47BE2B38F9FF}" srcOrd="3" destOrd="0" presId="urn:microsoft.com/office/officeart/2005/8/layout/pyramid2#1"/>
    <dgm:cxn modelId="{C3A6B221-2521-44F0-A62E-55E4FBC46324}" type="presParOf" srcId="{F6C1287F-B2FA-4E75-B940-74D091168317}" destId="{5A0BD487-CC40-4A08-A7D1-A39EB4326EDB}" srcOrd="4" destOrd="0" presId="urn:microsoft.com/office/officeart/2005/8/layout/pyramid2#1"/>
    <dgm:cxn modelId="{794AA6F5-A880-4622-960D-214C8B474CBA}" type="presParOf" srcId="{F6C1287F-B2FA-4E75-B940-74D091168317}" destId="{79E54261-789A-4A3E-90C4-CE59B86F516A}" srcOrd="5" destOrd="0" presId="urn:microsoft.com/office/officeart/2005/8/layout/pyramid2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FE534A-9422-4CC7-9886-495343DCFF32}" type="doc">
      <dgm:prSet loTypeId="urn:microsoft.com/office/officeart/2005/8/layout/vList6" loCatId="list" qsTypeId="urn:microsoft.com/office/officeart/2005/8/quickstyle/simple1#1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50E94838-7A36-4C8C-BFDB-A64E9FA14AD4}">
      <dgm:prSet custT="1"/>
      <dgm:spPr/>
      <dgm:t>
        <a:bodyPr/>
        <a:lstStyle/>
        <a:p>
          <a:r>
            <a:rPr lang="en-US" sz="3200" dirty="0"/>
            <a:t>From where I collect data</a:t>
          </a:r>
        </a:p>
      </dgm:t>
    </dgm:pt>
    <dgm:pt modelId="{51912EB4-4B9A-47C2-9ACA-BCF4250CFDB9}" type="parTrans" cxnId="{F99E41F0-79AB-47B3-89E1-24FD20097CC2}">
      <dgm:prSet/>
      <dgm:spPr/>
      <dgm:t>
        <a:bodyPr/>
        <a:lstStyle/>
        <a:p>
          <a:endParaRPr lang="en-US"/>
        </a:p>
      </dgm:t>
    </dgm:pt>
    <dgm:pt modelId="{74F1F7AB-BE67-4249-8630-9E5F742DE882}" type="sibTrans" cxnId="{F99E41F0-79AB-47B3-89E1-24FD20097CC2}">
      <dgm:prSet/>
      <dgm:spPr/>
      <dgm:t>
        <a:bodyPr/>
        <a:lstStyle/>
        <a:p>
          <a:endParaRPr lang="en-US"/>
        </a:p>
      </dgm:t>
    </dgm:pt>
    <dgm:pt modelId="{E07C684B-20CA-48E2-AB93-0DF8DD363C4B}">
      <dgm:prSet phldr="0" custT="1"/>
      <dgm:spPr/>
      <dgm:t>
        <a:bodyPr vert="horz" wrap="square"/>
        <a:lstStyle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2800" dirty="0"/>
            <a:t>The image on right side describe this</a:t>
          </a:r>
        </a:p>
      </dgm:t>
    </dgm:pt>
    <dgm:pt modelId="{318EA585-9B8C-4498-8F73-875BBA2F5D43}" type="parTrans" cxnId="{29002EA8-2816-4BA8-A40A-451710691213}">
      <dgm:prSet/>
      <dgm:spPr/>
      <dgm:t>
        <a:bodyPr/>
        <a:lstStyle/>
        <a:p>
          <a:endParaRPr lang="en-US"/>
        </a:p>
      </dgm:t>
    </dgm:pt>
    <dgm:pt modelId="{701AC3E1-7EA2-49AF-A8EF-0D0733F3AA6F}" type="sibTrans" cxnId="{29002EA8-2816-4BA8-A40A-451710691213}">
      <dgm:prSet/>
      <dgm:spPr/>
      <dgm:t>
        <a:bodyPr/>
        <a:lstStyle/>
        <a:p>
          <a:endParaRPr lang="en-US"/>
        </a:p>
      </dgm:t>
    </dgm:pt>
    <dgm:pt modelId="{CBDF85EB-FFBC-4475-804A-FF2B76AA48CE}" type="pres">
      <dgm:prSet presAssocID="{2BFE534A-9422-4CC7-9886-495343DCFF32}" presName="Name0" presStyleCnt="0">
        <dgm:presLayoutVars>
          <dgm:dir/>
          <dgm:animLvl val="lvl"/>
          <dgm:resizeHandles/>
        </dgm:presLayoutVars>
      </dgm:prSet>
      <dgm:spPr/>
    </dgm:pt>
    <dgm:pt modelId="{7F7A3FE1-E9EE-4B08-9255-916E1BAC7162}" type="pres">
      <dgm:prSet presAssocID="{50E94838-7A36-4C8C-BFDB-A64E9FA14AD4}" presName="linNode" presStyleCnt="0"/>
      <dgm:spPr/>
    </dgm:pt>
    <dgm:pt modelId="{44CC72C8-C728-4DB7-ACEC-CA914912B9B3}" type="pres">
      <dgm:prSet presAssocID="{50E94838-7A36-4C8C-BFDB-A64E9FA14AD4}" presName="parentShp" presStyleLbl="node1" presStyleIdx="0" presStyleCnt="1">
        <dgm:presLayoutVars>
          <dgm:bulletEnabled val="1"/>
        </dgm:presLayoutVars>
      </dgm:prSet>
      <dgm:spPr/>
    </dgm:pt>
    <dgm:pt modelId="{DE83ABAB-0219-4943-BD0C-30A12D2FD1F2}" type="pres">
      <dgm:prSet presAssocID="{50E94838-7A36-4C8C-BFDB-A64E9FA14AD4}" presName="childShp" presStyleLbl="bgAccFollowNode1" presStyleIdx="0" presStyleCnt="1">
        <dgm:presLayoutVars>
          <dgm:bulletEnabled val="1"/>
        </dgm:presLayoutVars>
      </dgm:prSet>
      <dgm:spPr/>
    </dgm:pt>
  </dgm:ptLst>
  <dgm:cxnLst>
    <dgm:cxn modelId="{68BE7705-8F3B-45E0-83A5-0C4C3717A928}" type="presOf" srcId="{E07C684B-20CA-48E2-AB93-0DF8DD363C4B}" destId="{DE83ABAB-0219-4943-BD0C-30A12D2FD1F2}" srcOrd="0" destOrd="0" presId="urn:microsoft.com/office/officeart/2005/8/layout/vList6"/>
    <dgm:cxn modelId="{29002EA8-2816-4BA8-A40A-451710691213}" srcId="{50E94838-7A36-4C8C-BFDB-A64E9FA14AD4}" destId="{E07C684B-20CA-48E2-AB93-0DF8DD363C4B}" srcOrd="0" destOrd="0" parTransId="{318EA585-9B8C-4498-8F73-875BBA2F5D43}" sibTransId="{701AC3E1-7EA2-49AF-A8EF-0D0733F3AA6F}"/>
    <dgm:cxn modelId="{B3D22DC3-4D06-48A5-A46D-5627F42379D3}" type="presOf" srcId="{2BFE534A-9422-4CC7-9886-495343DCFF32}" destId="{CBDF85EB-FFBC-4475-804A-FF2B76AA48CE}" srcOrd="0" destOrd="0" presId="urn:microsoft.com/office/officeart/2005/8/layout/vList6"/>
    <dgm:cxn modelId="{2D1F77CA-CC8D-4926-90CE-6B6AED0B35C0}" type="presOf" srcId="{50E94838-7A36-4C8C-BFDB-A64E9FA14AD4}" destId="{44CC72C8-C728-4DB7-ACEC-CA914912B9B3}" srcOrd="0" destOrd="0" presId="urn:microsoft.com/office/officeart/2005/8/layout/vList6"/>
    <dgm:cxn modelId="{F99E41F0-79AB-47B3-89E1-24FD20097CC2}" srcId="{2BFE534A-9422-4CC7-9886-495343DCFF32}" destId="{50E94838-7A36-4C8C-BFDB-A64E9FA14AD4}" srcOrd="0" destOrd="0" parTransId="{51912EB4-4B9A-47C2-9ACA-BCF4250CFDB9}" sibTransId="{74F1F7AB-BE67-4249-8630-9E5F742DE882}"/>
    <dgm:cxn modelId="{07D3B4ED-B8F9-429A-91FF-52743BC8299A}" type="presParOf" srcId="{CBDF85EB-FFBC-4475-804A-FF2B76AA48CE}" destId="{7F7A3FE1-E9EE-4B08-9255-916E1BAC7162}" srcOrd="0" destOrd="0" presId="urn:microsoft.com/office/officeart/2005/8/layout/vList6"/>
    <dgm:cxn modelId="{676E42B4-E227-43F1-B5B6-36DCBE1B3804}" type="presParOf" srcId="{7F7A3FE1-E9EE-4B08-9255-916E1BAC7162}" destId="{44CC72C8-C728-4DB7-ACEC-CA914912B9B3}" srcOrd="0" destOrd="0" presId="urn:microsoft.com/office/officeart/2005/8/layout/vList6"/>
    <dgm:cxn modelId="{16EC8BEF-E19D-400A-BF93-F7EBF37552AA}" type="presParOf" srcId="{7F7A3FE1-E9EE-4B08-9255-916E1BAC7162}" destId="{DE83ABAB-0219-4943-BD0C-30A12D2FD1F2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FDA00-B911-4EB7-9865-DA08E5C67333}">
      <dsp:nvSpPr>
        <dsp:cNvPr id="0" name=""/>
        <dsp:cNvSpPr/>
      </dsp:nvSpPr>
      <dsp:spPr>
        <a:xfrm>
          <a:off x="1698723" y="0"/>
          <a:ext cx="3966693" cy="3966693"/>
        </a:xfrm>
        <a:prstGeom prst="triangle">
          <a:avLst/>
        </a:prstGeom>
        <a:blipFill rotWithShape="0">
          <a:blip xmlns:r="http://schemas.openxmlformats.org/officeDocument/2006/relationships" r:embed="rId1">
            <a:duotone>
              <a:prstClr val="black"/>
              <a:schemeClr val="accent5">
                <a:tint val="45000"/>
                <a:satMod val="400000"/>
              </a:schemeClr>
            </a:duotone>
          </a:blip>
          <a:tile tx="0" ty="0" sx="100000" sy="100000" flip="none" algn="tl"/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B9B2FE4-AB43-40BC-B04D-7CAC8BF31D98}">
      <dsp:nvSpPr>
        <dsp:cNvPr id="0" name=""/>
        <dsp:cNvSpPr/>
      </dsp:nvSpPr>
      <dsp:spPr bwMode="white">
        <a:xfrm>
          <a:off x="3682070" y="398799"/>
          <a:ext cx="2578350" cy="93899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lumMod val="20000"/>
              <a:lumOff val="8000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Ali Haider      BSDSF22A012</a:t>
          </a:r>
        </a:p>
      </dsp:txBody>
      <dsp:txXfrm>
        <a:off x="3727908" y="444637"/>
        <a:ext cx="2486674" cy="847314"/>
      </dsp:txXfrm>
    </dsp:sp>
    <dsp:sp modelId="{B8C22470-30CF-4BDA-B9B3-5A4C5A7C3674}">
      <dsp:nvSpPr>
        <dsp:cNvPr id="0" name=""/>
        <dsp:cNvSpPr/>
      </dsp:nvSpPr>
      <dsp:spPr bwMode="white">
        <a:xfrm>
          <a:off x="3682070" y="1455164"/>
          <a:ext cx="2578350" cy="93899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lumMod val="20000"/>
              <a:lumOff val="8000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Durrab Jah    BSDSF22A017</a:t>
          </a:r>
        </a:p>
      </dsp:txBody>
      <dsp:txXfrm>
        <a:off x="3727908" y="1501002"/>
        <a:ext cx="2486674" cy="847314"/>
      </dsp:txXfrm>
    </dsp:sp>
    <dsp:sp modelId="{5A0BD487-CC40-4A08-A7D1-A39EB4326EDB}">
      <dsp:nvSpPr>
        <dsp:cNvPr id="0" name=""/>
        <dsp:cNvSpPr/>
      </dsp:nvSpPr>
      <dsp:spPr bwMode="white">
        <a:xfrm>
          <a:off x="3682070" y="2511528"/>
          <a:ext cx="2578350" cy="93899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lumMod val="20000"/>
              <a:lumOff val="8000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Talha Anjum BSDSF22A019</a:t>
          </a:r>
        </a:p>
      </dsp:txBody>
      <dsp:txXfrm>
        <a:off x="3727908" y="2557366"/>
        <a:ext cx="2486674" cy="8473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3ABAB-0219-4943-BD0C-30A12D2FD1F2}">
      <dsp:nvSpPr>
        <dsp:cNvPr id="0" name=""/>
        <dsp:cNvSpPr/>
      </dsp:nvSpPr>
      <dsp:spPr bwMode="white">
        <a:xfrm>
          <a:off x="1834427" y="0"/>
          <a:ext cx="2751640" cy="327777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285750" lvl="1" indent="-285750" algn="l" defTabSz="1244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The image on right side describe this</a:t>
          </a:r>
        </a:p>
      </dsp:txBody>
      <dsp:txXfrm>
        <a:off x="1834427" y="409721"/>
        <a:ext cx="1719775" cy="2458328"/>
      </dsp:txXfrm>
    </dsp:sp>
    <dsp:sp modelId="{44CC72C8-C728-4DB7-ACEC-CA914912B9B3}">
      <dsp:nvSpPr>
        <dsp:cNvPr id="0" name=""/>
        <dsp:cNvSpPr/>
      </dsp:nvSpPr>
      <dsp:spPr bwMode="white">
        <a:xfrm>
          <a:off x="0" y="0"/>
          <a:ext cx="1834427" cy="3277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From where I collect data</a:t>
          </a:r>
        </a:p>
      </dsp:txBody>
      <dsp:txXfrm>
        <a:off x="89549" y="89549"/>
        <a:ext cx="1655329" cy="3098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#1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dir/>
      <dgm:resizeHandles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0.10321</cdr:x>
      <cdr:y>0</cdr:y>
    </cdr:from>
    <cdr:to>
      <cdr:x>0.87385</cdr:x>
      <cdr:y>0.09283</cdr:y>
    </cdr:to>
    <cdr:sp macro="" textlink="">
      <cdr:nvSpPr>
        <cdr:cNvPr id="2" name="Rectangles 1"/>
        <cdr:cNvSpPr/>
      </cdr:nvSpPr>
      <cdr:spPr>
        <a:xfrm xmlns:a="http://schemas.openxmlformats.org/drawingml/2006/main">
          <a:off x="596348" y="0"/>
          <a:ext cx="4452730" cy="52197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vert="horz" wrap="square" lIns="45720" tIns="45720" rIns="45720" bIns="45720" rtlCol="0" anchor="t" anchorCtr="0">
          <a:normAutofit/>
        </a:bodyPr>
        <a:lstStyle xmlns:a="http://schemas.openxmlformats.org/drawingml/2006/main"/>
        <a:p xmlns:a="http://schemas.openxmlformats.org/drawingml/2006/main">
          <a:pPr algn="ctr"/>
          <a:r>
            <a:rPr lang="en-US" sz="2800" b="1" dirty="0"/>
            <a:t>Air pollution in your area 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0.19987</cdr:x>
      <cdr:y>0.00243</cdr:y>
    </cdr:from>
    <cdr:to>
      <cdr:x>0.8169</cdr:x>
      <cdr:y>0.0843</cdr:y>
    </cdr:to>
    <cdr:sp macro="" textlink="">
      <cdr:nvSpPr>
        <cdr:cNvPr id="2" name="Rectangles 1"/>
        <cdr:cNvSpPr/>
      </cdr:nvSpPr>
      <cdr:spPr>
        <a:xfrm xmlns:a="http://schemas.openxmlformats.org/drawingml/2006/main">
          <a:off x="1316382" y="13667"/>
          <a:ext cx="4064000" cy="460375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="horz" wrap="square" lIns="45720" tIns="45720" rIns="45720" bIns="45720" rtlCol="0" anchor="t" anchorCtr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altLang="en-GB" sz="2400" b="1" dirty="0"/>
            <a:t>Air Quality Rating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683B-A533-41F7-A487-B38E5755109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494D0-83EE-4FE5-B653-70F4ACBDA06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683B-A533-41F7-A487-B38E5755109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494D0-83EE-4FE5-B653-70F4ACBDA06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683B-A533-41F7-A487-B38E5755109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494D0-83EE-4FE5-B653-70F4ACBDA06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683B-A533-41F7-A487-B38E5755109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494D0-83EE-4FE5-B653-70F4ACBDA06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683B-A533-41F7-A487-B38E5755109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494D0-83EE-4FE5-B653-70F4ACBDA06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683B-A533-41F7-A487-B38E5755109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494D0-83EE-4FE5-B653-70F4ACBDA06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683B-A533-41F7-A487-B38E5755109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494D0-83EE-4FE5-B653-70F4ACBDA06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683B-A533-41F7-A487-B38E5755109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494D0-83EE-4FE5-B653-70F4ACBDA06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683B-A533-41F7-A487-B38E5755109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494D0-83EE-4FE5-B653-70F4ACBDA06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683B-A533-41F7-A487-B38E5755109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494D0-83EE-4FE5-B653-70F4ACBDA06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683B-A533-41F7-A487-B38E5755109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494D0-83EE-4FE5-B653-70F4ACBDA06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683B-A533-41F7-A487-B38E5755109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494D0-83EE-4FE5-B653-70F4ACBDA06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1683B-A533-41F7-A487-B38E5755109F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494D0-83EE-4FE5-B653-70F4ACBDA06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5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5"/>
            <a:ext cx="12286445" cy="69803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6366" y="875763"/>
            <a:ext cx="12192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Public Perception, Health Impact and Behavioral Responses to Air Pollution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87272" cy="3877216"/>
          </a:xfrm>
          <a:prstGeom prst="rect">
            <a:avLst/>
          </a:prstGeom>
        </p:spPr>
      </p:pic>
      <p:graphicFrame>
        <p:nvGraphicFramePr>
          <p:cNvPr id="4" name="Diagram 3"/>
          <p:cNvGraphicFramePr/>
          <p:nvPr/>
        </p:nvGraphicFramePr>
        <p:xfrm>
          <a:off x="3837905" y="2086377"/>
          <a:ext cx="7959144" cy="3966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1"/>
            <a:ext cx="5486400" cy="6857998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5873156" y="1118688"/>
            <a:ext cx="5057441" cy="144832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64038" y="826140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Sheikhupura</a:t>
            </a:r>
            <a:endParaRPr lang="en-US" sz="2400" b="1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7772"/>
            <a:ext cx="6705600" cy="35802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56005" y="4783015"/>
            <a:ext cx="400929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Total sample=133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5992838" y="2686929"/>
            <a:ext cx="5148774" cy="16881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42450" y="2408755"/>
            <a:ext cx="1861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Lahore</a:t>
            </a:r>
          </a:p>
        </p:txBody>
      </p:sp>
      <p:graphicFrame>
        <p:nvGraphicFramePr>
          <p:cNvPr id="25" name="Diagram 24"/>
          <p:cNvGraphicFramePr/>
          <p:nvPr/>
        </p:nvGraphicFramePr>
        <p:xfrm>
          <a:off x="0" y="0"/>
          <a:ext cx="4586068" cy="3277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3" y="0"/>
            <a:ext cx="5929745" cy="31870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"/>
            <a:ext cx="6262253" cy="64633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b="1" dirty="0"/>
              <a:t>Why we choose this topic?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839774"/>
            <a:ext cx="60682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understand how air pollution affects public health, awareness, and behavioral adaptations, providing insights for better interventions.</a:t>
            </a:r>
          </a:p>
          <a:p>
            <a:endParaRPr lang="en-US" sz="2800" dirty="0"/>
          </a:p>
          <a:p>
            <a:r>
              <a:rPr lang="en-US" sz="2800" dirty="0"/>
              <a:t>To explore public perception and support for policies addressing air quality, emphasizing the need for actionable change.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3" y="3187079"/>
            <a:ext cx="5929747" cy="3693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4928" y="830997"/>
            <a:ext cx="10959667" cy="6047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endParaRPr lang="en-US" sz="21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What is your age?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What is your gender?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What is your Employment Status?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How would you rate the overall air quality in your area?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Over the past 5 years, has the air quality in your area?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Do you think the government is doing enough to improve air quality?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Have you experienced any of the following health symptoms due to air pollution?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Do you believe the air quality affects your ability to work or study?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Have you visited a doctor or health professional due to air quality related health issues?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Are you aware of the Air Quality Index (AQI) and its implications?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Do you take any precautions when air quality is poor?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Would you support stricter government regulations to reduce air pollution?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Do you avoid outdoor activities during periods of poor air quality?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How often do you check the air quality before going outside?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300" dirty="0"/>
              <a:t>In your opinion, what is the main cause of air pollution? </a:t>
            </a:r>
          </a:p>
          <a:p>
            <a:endParaRPr lang="en-US" sz="2100" dirty="0"/>
          </a:p>
        </p:txBody>
      </p:sp>
      <p:sp>
        <p:nvSpPr>
          <p:cNvPr id="4" name="TextBox 3"/>
          <p:cNvSpPr txBox="1"/>
          <p:nvPr/>
        </p:nvSpPr>
        <p:spPr>
          <a:xfrm>
            <a:off x="4031087" y="0"/>
            <a:ext cx="2753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Questions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1999" cy="7683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4400" dirty="0"/>
              <a:t>This is the fews rows and columns of our dataset.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4742"/>
            <a:ext cx="12192000" cy="59032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32" t="8224" r="140"/>
          <a:stretch>
            <a:fillRect/>
          </a:stretch>
        </p:blipFill>
        <p:spPr>
          <a:xfrm>
            <a:off x="0" y="680177"/>
            <a:ext cx="12192000" cy="61778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-27709"/>
            <a:ext cx="12192000" cy="7078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4000" dirty="0"/>
              <a:t>Percentage distribution of gender involved</a:t>
            </a:r>
          </a:p>
        </p:txBody>
      </p:sp>
      <p:sp>
        <p:nvSpPr>
          <p:cNvPr id="7" name="TextBox 6"/>
          <p:cNvSpPr txBox="1"/>
          <p:nvPr/>
        </p:nvSpPr>
        <p:spPr>
          <a:xfrm flipH="1">
            <a:off x="5602457" y="741732"/>
            <a:ext cx="1825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60.9%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5106572" y="1237957"/>
            <a:ext cx="495885" cy="35169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17059" y="2222696"/>
            <a:ext cx="192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30.1%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7962314" y="2729132"/>
            <a:ext cx="407963" cy="51016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0" y="983673"/>
          <a:ext cx="12192001" cy="5874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0" y="0"/>
            <a:ext cx="12191999" cy="7694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4400" dirty="0"/>
              <a:t>Percentage distribution of age involved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/>
          <p:nvPr/>
        </p:nvGraphicFramePr>
        <p:xfrm>
          <a:off x="1" y="523220"/>
          <a:ext cx="6064624" cy="5904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6138345" y="523220"/>
          <a:ext cx="6053655" cy="6048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0"/>
            <a:ext cx="12192000" cy="5219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Graphs showing gender distribution and people opinion towards Govt Performance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</p:spPr>
      </p:pic>
      <p:sp>
        <p:nvSpPr>
          <p:cNvPr id="5" name="TextBox 4"/>
          <p:cNvSpPr txBox="1"/>
          <p:nvPr/>
        </p:nvSpPr>
        <p:spPr>
          <a:xfrm>
            <a:off x="-1" y="921247"/>
            <a:ext cx="27831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530" y="2055813"/>
                <a:ext cx="11660305" cy="4677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/>
                  <a:t> : There is no association b/w Gender and people opinion.</a:t>
                </a:r>
                <a:endParaRPr lang="en-US" sz="32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 : There is assocaition b/w Gender are people opinion </a:t>
                </a:r>
              </a:p>
              <a:p>
                <a:r>
                  <a:rPr lang="en-US" sz="3200" dirty="0"/>
                  <a:t>Chi-Square statistics: 3.83</a:t>
                </a:r>
              </a:p>
              <a:p>
                <a:r>
                  <a:rPr lang="en-US" sz="3200" dirty="0"/>
                  <a:t>Degrees of freedom: 3</a:t>
                </a:r>
              </a:p>
              <a:p>
                <a:r>
                  <a:rPr lang="en-US" sz="3200" dirty="0"/>
                  <a:t>p-value: 0.27</a:t>
                </a:r>
              </a:p>
              <a:p>
                <a:r>
                  <a:rPr lang="en-US" sz="3200" dirty="0"/>
                  <a:t>p-value &lt; 0.05 (False)</a:t>
                </a:r>
              </a:p>
              <a:p>
                <a:endParaRPr lang="en-US" sz="2400" dirty="0"/>
              </a:p>
              <a:p>
                <a:r>
                  <a:rPr lang="en-US" sz="3200" b="1" dirty="0"/>
                  <a:t>We fail to reject null hypothesis because there is no association between them</a:t>
                </a:r>
                <a:r>
                  <a:rPr lang="en-US" sz="3200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0" y="2055813"/>
                <a:ext cx="11660305" cy="4677410"/>
              </a:xfrm>
              <a:prstGeom prst="rect">
                <a:avLst/>
              </a:prstGeom>
              <a:blipFill rotWithShape="1">
                <a:blip r:embed="rId3"/>
                <a:stretch>
                  <a:fillRect l="-1" t="-7" r="5" b="7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 flipH="1">
            <a:off x="-1" y="0"/>
            <a:ext cx="1219200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Chi-Square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/>
          <p:nvPr/>
        </p:nvGraphicFramePr>
        <p:xfrm>
          <a:off x="0" y="1291590"/>
          <a:ext cx="12192000" cy="5566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1"/>
          <p:cNvSpPr txBox="1"/>
          <p:nvPr/>
        </p:nvSpPr>
        <p:spPr>
          <a:xfrm>
            <a:off x="0" y="0"/>
            <a:ext cx="12191999" cy="7683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4400" dirty="0"/>
              <a:t>Distribution of AQI Awareness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Runs test for randomness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41829"/>
            <a:ext cx="12192000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Check randomness in AQI awareness responses.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0" y="3526971"/>
                <a:ext cx="3251201" cy="1384995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800" dirty="0"/>
                  <a:t>Number of Runs: 48</a:t>
                </a:r>
              </a:p>
              <a:p>
                <a:r>
                  <a:rPr lang="en-US" sz="2800" dirty="0"/>
                  <a:t>Z : -0.6137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𝑡𝑎𝑏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=±1.96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26971"/>
                <a:ext cx="3251201" cy="1384995"/>
              </a:xfrm>
              <a:prstGeom prst="rect">
                <a:avLst/>
              </a:prstGeom>
              <a:blipFill rotWithShape="1">
                <a:blip r:embed="rId2"/>
                <a:stretch>
                  <a:fillRect t="-13" b="17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The sequence is random.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0" y="1953789"/>
                <a:ext cx="6096000" cy="107721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/>
                  <a:t> : The sequence is random.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 : The sequence is not random.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53789"/>
                <a:ext cx="6096000" cy="1077218"/>
              </a:xfrm>
              <a:prstGeom prst="rect">
                <a:avLst/>
              </a:prstGeom>
              <a:blipFill rotWithShape="1">
                <a:blip r:embed="rId3"/>
                <a:stretch>
                  <a:fillRect t="-49" b="14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993" y="1365049"/>
            <a:ext cx="5048007" cy="45336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0" y="5602514"/>
                <a:ext cx="73297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The z-value -0.6137 lies inside the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±1.96</m:t>
                    </m:r>
                  </m:oMath>
                </a14:m>
                <a:r>
                  <a:rPr lang="en-US" sz="2800" dirty="0"/>
                  <a:t> 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602514"/>
                <a:ext cx="7329714" cy="523220"/>
              </a:xfrm>
              <a:prstGeom prst="rect">
                <a:avLst/>
              </a:prstGeom>
              <a:blipFill rotWithShape="1">
                <a:blip r:embed="rId5"/>
                <a:stretch>
                  <a:fillRect t="-104" r="7" b="-8031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/>
          <p:nvPr/>
        </p:nvGraphicFramePr>
        <p:xfrm>
          <a:off x="0" y="1235075"/>
          <a:ext cx="6238875" cy="5622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1317625" y="123507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 dirty="0"/>
              <a:t>Profession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-24130" y="10160"/>
            <a:ext cx="12216130" cy="101219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noAutofit/>
          </a:bodyPr>
          <a:lstStyle/>
          <a:p>
            <a:pPr algn="l"/>
            <a:r>
              <a:rPr lang="en-US" altLang="en-GB" sz="3200" b="1">
                <a:solidFill>
                  <a:schemeClr val="bg1"/>
                </a:solidFill>
              </a:rPr>
              <a:t>Graphs showing Distribution of Profession and Air Pollution in your area during the the past 5 years</a:t>
            </a:r>
          </a:p>
        </p:txBody>
      </p:sp>
      <p:graphicFrame>
        <p:nvGraphicFramePr>
          <p:cNvPr id="17" name="Chart 16"/>
          <p:cNvGraphicFramePr/>
          <p:nvPr/>
        </p:nvGraphicFramePr>
        <p:xfrm>
          <a:off x="6334539" y="1235075"/>
          <a:ext cx="5857461" cy="5622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260" y="0"/>
            <a:ext cx="450573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flipH="1">
            <a:off x="0" y="0"/>
            <a:ext cx="7686260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Kruskal</a:t>
            </a:r>
            <a:r>
              <a:rPr lang="en-US" sz="2800" b="1" dirty="0">
                <a:solidFill>
                  <a:schemeClr val="bg1"/>
                </a:solidFill>
              </a:rPr>
              <a:t>-Wallis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781878"/>
                <a:ext cx="7686260" cy="193899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: No Difference among people of different professions on 	the air quality in there area over the past 5 years.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: Significant Difference among people of different 	professions on the air 	quality in there area over the 	past 5 years.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81878"/>
                <a:ext cx="7686260" cy="1938992"/>
              </a:xfrm>
              <a:prstGeom prst="rect">
                <a:avLst/>
              </a:prstGeom>
              <a:blipFill rotWithShape="1">
                <a:blip r:embed="rId3"/>
                <a:stretch>
                  <a:fillRect t="-10" r="3" b="27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0" y="3200936"/>
            <a:ext cx="5950226" cy="8309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err="1"/>
              <a:t>Kruskal</a:t>
            </a:r>
            <a:r>
              <a:rPr lang="en-US" sz="2400" dirty="0"/>
              <a:t>-Wallis Statistic: 0.6930433968595375 p-value: 0.7071434752177674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657671"/>
            <a:ext cx="7686260" cy="12003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Fail to reject null hypothesis. No Difference among </a:t>
            </a:r>
            <a:r>
              <a:rPr lang="en-US" sz="2400" b="1" dirty="0" err="1"/>
              <a:t>pepole</a:t>
            </a:r>
            <a:r>
              <a:rPr lang="en-US" sz="2400" b="1" dirty="0"/>
              <a:t> of different professions on the air quality in there area over the past 5 years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6504" y="4031933"/>
                <a:ext cx="5923722" cy="5847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H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𝐶𝑟𝑖𝑡𝑖𝑐𝑎𝑙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𝑉𝑎𝑙𝑢𝑒</m:t>
                    </m:r>
                  </m:oMath>
                </a14:m>
                <a:r>
                  <a:rPr lang="en-US" sz="3200" dirty="0"/>
                  <a:t>(False)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4" y="4031933"/>
                <a:ext cx="5923722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8" t="-54" r="5" b="44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/>
          <p:nvPr/>
        </p:nvGraphicFramePr>
        <p:xfrm>
          <a:off x="6599582" y="715617"/>
          <a:ext cx="5592417" cy="6142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0" y="704822"/>
          <a:ext cx="6414052" cy="6142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540487" y="704437"/>
            <a:ext cx="335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Affects on study 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Graphs showing distribution of AQI and affects on study or 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9573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670" y="73409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426" y="0"/>
            <a:ext cx="27831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Hypothesis</a:t>
            </a:r>
            <a:endParaRPr lang="en-US" sz="4400" dirty="0"/>
          </a:p>
        </p:txBody>
      </p:sp>
      <p:sp>
        <p:nvSpPr>
          <p:cNvPr id="9" name="TextBox 8"/>
          <p:cNvSpPr txBox="1"/>
          <p:nvPr/>
        </p:nvSpPr>
        <p:spPr>
          <a:xfrm flipH="1">
            <a:off x="289132" y="137803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flipH="1">
                <a:off x="127669" y="734096"/>
                <a:ext cx="12192000" cy="5446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/>
                  <a:t> : There is no association b/w AQI and its impacts on study or work.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 : There is association b/w AQI and its impacts on study on work.</a:t>
                </a:r>
              </a:p>
              <a:p>
                <a:endParaRPr lang="en-US" sz="3200" dirty="0"/>
              </a:p>
              <a:p>
                <a:r>
                  <a:rPr lang="en-US" sz="3200" dirty="0"/>
                  <a:t>Chi-square statistics: 20.41</a:t>
                </a:r>
              </a:p>
              <a:p>
                <a:r>
                  <a:rPr lang="en-US" sz="3200" dirty="0"/>
                  <a:t>P-value: 0.0086</a:t>
                </a:r>
              </a:p>
              <a:p>
                <a:r>
                  <a:rPr lang="en-US" sz="3200" dirty="0"/>
                  <a:t>Degrees of freedom: 8</a:t>
                </a:r>
              </a:p>
              <a:p>
                <a:endParaRPr lang="en-US" sz="3200" dirty="0"/>
              </a:p>
              <a:p>
                <a:r>
                  <a:rPr lang="en-US" sz="3200" dirty="0"/>
                  <a:t>p-value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sz="3200" dirty="0"/>
                  <a:t> (True)</a:t>
                </a:r>
              </a:p>
              <a:p>
                <a:endParaRPr lang="en-US" sz="3200" dirty="0"/>
              </a:p>
              <a:p>
                <a:endParaRPr lang="en-US" sz="3200" dirty="0"/>
              </a:p>
              <a:p>
                <a:r>
                  <a:rPr lang="en-US" sz="2800" dirty="0"/>
                  <a:t>We reject null hypothesis, there is a significant association b/w AQI and its slides.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7669" y="734096"/>
                <a:ext cx="12192000" cy="5446395"/>
              </a:xfrm>
              <a:prstGeom prst="rect">
                <a:avLst/>
              </a:prstGeom>
              <a:blipFill rotWithShape="1">
                <a:blip r:embed="rId3"/>
                <a:stretch>
                  <a:fillRect t="-1" b="1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/>
          <p:nvPr/>
        </p:nvGraphicFramePr>
        <p:xfrm>
          <a:off x="0" y="874643"/>
          <a:ext cx="6241773" cy="5983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/>
          <p:nvPr/>
        </p:nvGraphicFramePr>
        <p:xfrm>
          <a:off x="6361043" y="914400"/>
          <a:ext cx="5733775" cy="5943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Graphs showing the distribution of Precautions and Symptoms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0" y="751571"/>
                <a:ext cx="12192000" cy="1077218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 : There is no association between precautions and symptoms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 : There is association between precautions and symptoms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51571"/>
                <a:ext cx="12192000" cy="1077218"/>
              </a:xfrm>
              <a:prstGeom prst="rect">
                <a:avLst/>
              </a:prstGeom>
              <a:blipFill rotWithShape="1">
                <a:blip r:embed="rId2"/>
                <a:stretch>
                  <a:fillRect t="-34" b="58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-6985" y="4306799"/>
                <a:ext cx="4645025" cy="584775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 0.05(True)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985" y="4306799"/>
                <a:ext cx="4645025" cy="584775"/>
              </a:xfrm>
              <a:prstGeom prst="rect">
                <a:avLst/>
              </a:prstGeom>
              <a:blipFill>
                <a:blip r:embed="rId3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0" y="5781040"/>
            <a:ext cx="12192000" cy="107721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We reject the null hypothesis, there is significant association between precautions and symptoms.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Chi-Square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6985" y="2245007"/>
            <a:ext cx="4644572" cy="138499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Chi-Square: 477.7</a:t>
            </a:r>
          </a:p>
          <a:p>
            <a:r>
              <a:rPr lang="en-US" sz="2800" dirty="0">
                <a:solidFill>
                  <a:schemeClr val="bg1"/>
                </a:solidFill>
              </a:rPr>
              <a:t>P-value: 5.5168e-05</a:t>
            </a:r>
          </a:p>
          <a:p>
            <a:r>
              <a:rPr lang="en-US" sz="2800" dirty="0">
                <a:solidFill>
                  <a:schemeClr val="bg1"/>
                </a:solidFill>
              </a:rPr>
              <a:t>Degrees of freedom: 364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61" y="1828789"/>
            <a:ext cx="7467640" cy="39324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0" y="901149"/>
          <a:ext cx="12192000" cy="5956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Distribution of Profession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2191999" cy="7694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ANNOVA</a:t>
            </a:r>
            <a:endParaRPr lang="en-US" sz="4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963112"/>
                <a:ext cx="12192000" cy="1291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: The mean air quality ratings are same across different professions.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: </a:t>
                </a:r>
                <a:r>
                  <a:rPr lang="en-US" sz="2800" dirty="0"/>
                  <a:t>At least one profession group has different mean.</a:t>
                </a:r>
                <a:endParaRPr lang="en-US" sz="3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63112"/>
                <a:ext cx="12192000" cy="1291590"/>
              </a:xfrm>
              <a:prstGeom prst="rect">
                <a:avLst/>
              </a:prstGeom>
              <a:blipFill rotWithShape="1">
                <a:blip r:embed="rId3"/>
                <a:stretch>
                  <a:fillRect t="-35" b="35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0" y="5770968"/>
            <a:ext cx="12000273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From Calculation we fail to reject null hypothesis and so the mean of air quality  across different professions are same.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3362204" y="2737771"/>
            <a:ext cx="33016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F-Statistics: 1.812</a:t>
            </a:r>
          </a:p>
          <a:p>
            <a:r>
              <a:rPr lang="en-US" sz="2800" dirty="0"/>
              <a:t>p-value: 0.16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flipH="1">
                <a:off x="3362204" y="3612581"/>
                <a:ext cx="40545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r>
                  <a:rPr 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0.05(False)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62204" y="3612581"/>
                <a:ext cx="4054596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13" t="-13" r="16" b="9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6138545" y="946785"/>
          <a:ext cx="6053455" cy="5911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/>
          <p:cNvGraphicFramePr/>
          <p:nvPr/>
        </p:nvGraphicFramePr>
        <p:xfrm>
          <a:off x="0" y="947420"/>
          <a:ext cx="6064885" cy="5910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0"/>
            <a:ext cx="12192000" cy="9531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ym typeface="+mn-ea"/>
              </a:rPr>
              <a:t>Graphs showing gender distribution and people’s satisfaction towards Government  Performance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0" y="887109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 : No Difference between genders opinion about government       	performance in reducing air pollution</a:t>
                </a:r>
                <a:endParaRPr lang="en-US" sz="32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bg1"/>
                    </a:solidFill>
                  </a:rPr>
                  <a:t> : Significant Difference between genders opinion about government 	performance in reducing air pollution</a:t>
                </a:r>
              </a:p>
              <a:p>
                <a:endParaRPr lang="en-US" sz="3200" dirty="0">
                  <a:solidFill>
                    <a:schemeClr val="bg1"/>
                  </a:solidFill>
                </a:endParaRPr>
              </a:p>
              <a:p>
                <a:r>
                  <a:rPr lang="en-US" sz="3200" dirty="0">
                    <a:solidFill>
                      <a:schemeClr val="bg1"/>
                    </a:solidFill>
                  </a:rPr>
                  <a:t>Wilcoxon Rank-Sum Statistic: 0.4045028947905076</a:t>
                </a:r>
              </a:p>
              <a:p>
                <a:r>
                  <a:rPr lang="en-US" sz="3200" dirty="0">
                    <a:solidFill>
                      <a:schemeClr val="bg1"/>
                    </a:solidFill>
                  </a:rPr>
                  <a:t>p-value: 0.6858429496142153</a:t>
                </a:r>
              </a:p>
              <a:p>
                <a:endParaRPr lang="en-US" sz="3200" dirty="0">
                  <a:solidFill>
                    <a:schemeClr val="bg1"/>
                  </a:solidFill>
                </a:endParaRPr>
              </a:p>
              <a:p>
                <a:r>
                  <a:rPr lang="en-US" sz="3200" dirty="0" err="1">
                    <a:solidFill>
                      <a:schemeClr val="bg1"/>
                    </a:solidFill>
                  </a:rPr>
                  <a:t>P_value</a:t>
                </a:r>
                <a:r>
                  <a:rPr lang="en-US" sz="3200" dirty="0">
                    <a:solidFill>
                      <a:schemeClr val="bg1"/>
                    </a:solidFill>
                  </a:rPr>
                  <a:t> &lt; 0.05(False)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87109"/>
                <a:ext cx="12192000" cy="4524315"/>
              </a:xfrm>
              <a:prstGeom prst="rect">
                <a:avLst/>
              </a:prstGeom>
              <a:blipFill>
                <a:blip r:embed="rId3"/>
                <a:stretch>
                  <a:fillRect l="-1250" t="-1617" b="-350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0" y="5883965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We fail to reject null hypothesis. No Difference between genders opinion about government performance in reducing air pollution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3525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Hypothesis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32" t="8224" r="140"/>
          <a:stretch>
            <a:fillRect/>
          </a:stretch>
        </p:blipFill>
        <p:spPr>
          <a:xfrm>
            <a:off x="0" y="1176655"/>
            <a:ext cx="6250305" cy="5681980"/>
          </a:xfrm>
          <a:prstGeom prst="rect">
            <a:avLst/>
          </a:prstGeom>
        </p:spPr>
      </p:pic>
      <p:graphicFrame>
        <p:nvGraphicFramePr>
          <p:cNvPr id="6" name="Chart 5"/>
          <p:cNvGraphicFramePr/>
          <p:nvPr/>
        </p:nvGraphicFramePr>
        <p:xfrm>
          <a:off x="6238240" y="799465"/>
          <a:ext cx="5801995" cy="6059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7278370" y="7994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400" b="1"/>
              <a:t>Air Quality Ratings 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1462405" y="1694815"/>
            <a:ext cx="4064000" cy="424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-635" y="948055"/>
            <a:ext cx="6238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/>
              <a:t>Gender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0" y="-635"/>
            <a:ext cx="12192000" cy="8293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altLang="en-GB" sz="4000" b="1">
                <a:solidFill>
                  <a:schemeClr val="bg1"/>
                </a:solidFill>
                <a:sym typeface="+mn-ea"/>
              </a:rPr>
              <a:t>Distribution of </a:t>
            </a:r>
            <a:r>
              <a:rPr lang="en-US" altLang="en-GB" sz="4000" b="1">
                <a:solidFill>
                  <a:schemeClr val="bg1"/>
                </a:solidFill>
              </a:rPr>
              <a:t>Gender and Air Quality Rating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686" y="3207656"/>
            <a:ext cx="4383314" cy="36503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-51610"/>
            <a:ext cx="12192000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err="1"/>
              <a:t>Wilicoxon</a:t>
            </a:r>
            <a:r>
              <a:rPr lang="en-US" sz="4400" b="1" dirty="0"/>
              <a:t> rank-sum statistics</a:t>
            </a:r>
            <a:endParaRPr 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0" y="2011522"/>
                <a:ext cx="1146628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/>
                  <a:t>: Two samples are from the population with same median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: Two samples are from the population with different median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11522"/>
                <a:ext cx="11466286" cy="1077218"/>
              </a:xfrm>
              <a:prstGeom prst="rect">
                <a:avLst/>
              </a:prstGeom>
              <a:blipFill rotWithShape="1">
                <a:blip r:embed="rId3"/>
                <a:stretch>
                  <a:fillRect t="-44" r="1" b="9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0" y="768401"/>
            <a:ext cx="12192000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200" dirty="0"/>
              <a:t>Compare Air Quality ratings between males and female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089599"/>
            <a:ext cx="66363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No difference between genders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0" y="3708696"/>
            <a:ext cx="4512428" cy="9541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Statistics: -0.929</a:t>
            </a:r>
          </a:p>
          <a:p>
            <a:r>
              <a:rPr lang="en-US" sz="2800" dirty="0"/>
              <a:t>P-value: 0.652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784" y="-53009"/>
            <a:ext cx="12224784" cy="6876441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0" y="2072792"/>
            <a:ext cx="12192000" cy="671580"/>
            <a:chOff x="0" y="69660"/>
            <a:chExt cx="12192000" cy="671580"/>
          </a:xfrm>
        </p:grpSpPr>
        <p:sp>
          <p:nvSpPr>
            <p:cNvPr id="5" name="Rounded Rectangle 4"/>
            <p:cNvSpPr/>
            <p:nvPr/>
          </p:nvSpPr>
          <p:spPr>
            <a:xfrm>
              <a:off x="0" y="69660"/>
              <a:ext cx="12192000" cy="6715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/>
            <p:nvPr/>
          </p:nvSpPr>
          <p:spPr>
            <a:xfrm>
              <a:off x="32784" y="102444"/>
              <a:ext cx="12126432" cy="6060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/>
              <a:r>
                <a:rPr lang="en-US" sz="2400" dirty="0"/>
                <a:t>Air pollution significantly impacts health, especially for those taking fewer precautions.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0" y="2777156"/>
            <a:ext cx="12192000" cy="671580"/>
            <a:chOff x="0" y="69660"/>
            <a:chExt cx="12192000" cy="671580"/>
          </a:xfrm>
        </p:grpSpPr>
        <p:sp>
          <p:nvSpPr>
            <p:cNvPr id="8" name="Rounded Rectangle 7"/>
            <p:cNvSpPr/>
            <p:nvPr/>
          </p:nvSpPr>
          <p:spPr>
            <a:xfrm>
              <a:off x="0" y="69660"/>
              <a:ext cx="12192000" cy="6715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32784" y="102444"/>
              <a:ext cx="12126432" cy="6060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/>
              <a:r>
                <a:rPr lang="en-US" sz="2400" dirty="0"/>
                <a:t>Many people are aware of air pollution but lack full understanding of AQI.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0" y="3481520"/>
            <a:ext cx="12192000" cy="671580"/>
            <a:chOff x="0" y="69660"/>
            <a:chExt cx="12192000" cy="671580"/>
          </a:xfrm>
        </p:grpSpPr>
        <p:sp>
          <p:nvSpPr>
            <p:cNvPr id="11" name="Rounded Rectangle 10"/>
            <p:cNvSpPr/>
            <p:nvPr/>
          </p:nvSpPr>
          <p:spPr>
            <a:xfrm>
              <a:off x="0" y="69660"/>
              <a:ext cx="12192000" cy="6715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32784" y="102444"/>
              <a:ext cx="12126432" cy="6060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/>
              <a:r>
                <a:rPr lang="en-US" sz="2400" dirty="0"/>
                <a:t>Public views on government efforts to reduce pollution are similar across genders.</a:t>
              </a:r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-16392" y="4185884"/>
            <a:ext cx="12192000" cy="671580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dirty="0"/>
              <a:t>Most people adapt behaviors like avoiding outdoor activities during poor air quality.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-16392" y="4923032"/>
            <a:ext cx="12192000" cy="671580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dirty="0"/>
              <a:t>Air quality perceptions are consistent across different professions.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-16392" y="5660180"/>
            <a:ext cx="12192000" cy="671580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dirty="0"/>
              <a:t>Stricter regulations and awareness campaigns are crucial to improving air quality.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722" y="180304"/>
            <a:ext cx="4141674" cy="10818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995</Words>
  <Application>Microsoft Office PowerPoint</Application>
  <PresentationFormat>Widescreen</PresentationFormat>
  <Paragraphs>160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yc</dc:creator>
  <cp:lastModifiedBy>Aizaz Athar</cp:lastModifiedBy>
  <cp:revision>67</cp:revision>
  <dcterms:created xsi:type="dcterms:W3CDTF">2025-01-04T11:21:00Z</dcterms:created>
  <dcterms:modified xsi:type="dcterms:W3CDTF">2025-01-07T07:55:51Z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1A71247145BF47188634F1F7712CFE11_12</vt:lpwstr>
  </property>
  <property fmtid="{D5CDD505-2E9C-101B-9397-08002B2CF9AE}" pid="3" name="KSOProductBuildVer">
    <vt:lpwstr>2057-12.2.0.18639</vt:lpwstr>
  </property>
</Properties>
</file>